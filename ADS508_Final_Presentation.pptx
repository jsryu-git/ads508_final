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753600" cy="7315200"/>
  <p:notesSz cx="6858000" cy="9144000"/>
  <p:embeddedFontLst>
    <p:embeddedFont>
      <p:font typeface="Calibri (MS)" panose="020B0604020202020204" charset="0"/>
      <p:regular r:id="rId9"/>
    </p:embeddedFont>
    <p:embeddedFont>
      <p:font typeface="Calibri (MS) Bold" panose="020B0604020202020204" charset="0"/>
      <p:regular r:id="rId10"/>
    </p:embeddedFont>
    <p:embeddedFont>
      <p:font typeface="Londrina Solid Heavy" panose="020B0604020202020204" charset="0"/>
      <p:regular r:id="rId11"/>
    </p:embeddedFont>
    <p:embeddedFont>
      <p:font typeface="Montserrat" panose="00000500000000000000" pitchFamily="2" charset="0"/>
      <p:regular r:id="rId12"/>
    </p:embeddedFont>
    <p:embeddedFont>
      <p:font typeface="Montserrat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72850" autoAdjust="0"/>
  </p:normalViewPr>
  <p:slideViewPr>
    <p:cSldViewPr>
      <p:cViewPr varScale="1">
        <p:scale>
          <a:sx n="88" d="100"/>
          <a:sy n="88" d="100"/>
        </p:scale>
        <p:origin x="184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12.04.2026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0" dirty="0"/>
              <a:t>Hello everyone, today we will be presenting our project titled Real Estate Analytics: Housing Price Prediction.</a:t>
            </a:r>
          </a:p>
          <a:p>
            <a:endParaRPr lang="en-US" i="0" dirty="0"/>
          </a:p>
          <a:p>
            <a:r>
              <a:rPr lang="en-US" i="0" dirty="0"/>
              <a:t>This project was completed by Group 6 and focuses on using data to better understand and predict housing prices.</a:t>
            </a:r>
          </a:p>
          <a:p>
            <a:endParaRPr lang="en-US" i="0" dirty="0"/>
          </a:p>
          <a:p>
            <a:r>
              <a:rPr lang="en-US" i="0" dirty="0"/>
              <a:t>The goal of this presentation is to walk through the problem, our approach, key findings, and recommendations in a clear and practical way.”</a:t>
            </a:r>
          </a:p>
          <a:p>
            <a:endParaRPr lang="en-US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05220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The housing market is complex and influenced by many factors.</a:t>
            </a:r>
          </a:p>
          <a:p>
            <a:endParaRPr lang="en-US" dirty="0"/>
          </a:p>
          <a:p>
            <a:r>
              <a:rPr lang="en-US" dirty="0"/>
              <a:t>Housing prices fluctuate unpredictably, which makes it difficult for buyers, sellers, and investors to make informed decisions.</a:t>
            </a:r>
          </a:p>
          <a:p>
            <a:endParaRPr lang="en-US" dirty="0"/>
          </a:p>
          <a:p>
            <a:r>
              <a:rPr lang="en-US" dirty="0"/>
              <a:t>Additionally, there is limited data-driven guidance available, and traditional analysis methods tend to be slow and reactive; instead of being predictive.</a:t>
            </a:r>
          </a:p>
          <a:p>
            <a:endParaRPr lang="en-US" dirty="0"/>
          </a:p>
          <a:p>
            <a:r>
              <a:rPr lang="en-US" dirty="0"/>
              <a:t>To address this, our project had three main goals: </a:t>
            </a:r>
          </a:p>
          <a:p>
            <a:r>
              <a:rPr lang="en-US" dirty="0"/>
              <a:t>First, to predict housing prices using historical data.</a:t>
            </a:r>
          </a:p>
          <a:p>
            <a:r>
              <a:rPr lang="en-US" dirty="0"/>
              <a:t>Second, to identify the key factors that drive those price changes.</a:t>
            </a:r>
          </a:p>
          <a:p>
            <a:r>
              <a:rPr lang="en-US" dirty="0"/>
              <a:t>And third, to support stakeholders in making better, data-driven decisions.</a:t>
            </a:r>
          </a:p>
          <a:p>
            <a:endParaRPr lang="en-US" dirty="0"/>
          </a:p>
          <a:p>
            <a:r>
              <a:rPr lang="en-US" dirty="0"/>
              <a:t>Overall, the objective was to reduce uncertainty and improve decision-making using data.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This slide summarizes our overall approach in a simple workflow.</a:t>
            </a:r>
          </a:p>
          <a:p>
            <a:endParaRPr lang="en-US" dirty="0"/>
          </a:p>
          <a:p>
            <a:r>
              <a:rPr lang="en-US" dirty="0"/>
              <a:t>We started by collecting relevant housing data from Zillow.</a:t>
            </a:r>
          </a:p>
          <a:p>
            <a:endParaRPr lang="en-US" dirty="0"/>
          </a:p>
          <a:p>
            <a:r>
              <a:rPr lang="en-US" dirty="0"/>
              <a:t>Next, we created a predictive model using that data.</a:t>
            </a:r>
          </a:p>
          <a:p>
            <a:endParaRPr lang="en-US" dirty="0"/>
          </a:p>
          <a:p>
            <a:r>
              <a:rPr lang="en-US" dirty="0"/>
              <a:t>From the model, we generated insights about pricing patterns.</a:t>
            </a:r>
          </a:p>
          <a:p>
            <a:endParaRPr lang="en-US" dirty="0"/>
          </a:p>
          <a:p>
            <a:r>
              <a:rPr lang="en-US" dirty="0"/>
              <a:t>Finally, those insights can be used to support better business decisions.</a:t>
            </a:r>
          </a:p>
          <a:p>
            <a:endParaRPr lang="en-US" dirty="0"/>
          </a:p>
          <a:p>
            <a:r>
              <a:rPr lang="en-US" dirty="0"/>
              <a:t>This structured approach allowed us to move from raw data all the way to actionable outcomes.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In terms of implementation, we used real-world housing data from Zillow.</a:t>
            </a:r>
          </a:p>
          <a:p>
            <a:endParaRPr lang="en-US" dirty="0"/>
          </a:p>
          <a:p>
            <a:r>
              <a:rPr lang="en-US" dirty="0"/>
              <a:t>The first step was data preparation, where we cleaned and processed the data to ensure quality and consistency.</a:t>
            </a:r>
          </a:p>
          <a:p>
            <a:endParaRPr lang="en-US" dirty="0"/>
          </a:p>
          <a:p>
            <a:r>
              <a:rPr lang="en-US" dirty="0"/>
              <a:t>We then combined multiple datasets to create a more complete view of the housing market.</a:t>
            </a:r>
          </a:p>
          <a:p>
            <a:endParaRPr lang="en-US" dirty="0"/>
          </a:p>
          <a:p>
            <a:r>
              <a:rPr lang="en-US" dirty="0"/>
              <a:t>After preparing the data, we built a predictive model designed to capture patterns in housing prices.</a:t>
            </a:r>
          </a:p>
          <a:p>
            <a:endParaRPr lang="en-US" dirty="0"/>
          </a:p>
          <a:p>
            <a:r>
              <a:rPr lang="en-US" dirty="0"/>
              <a:t>The model was trained and then evaluated using historical data to measure its accuracy.</a:t>
            </a:r>
          </a:p>
          <a:p>
            <a:endParaRPr lang="en-US" dirty="0"/>
          </a:p>
          <a:p>
            <a:r>
              <a:rPr lang="en-US" dirty="0"/>
              <a:t>At a high level, this process follows a standard data science workflow, where data is transformed into a model, and the model produces predictions.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Based on our analysis, we found several important insights.</a:t>
            </a:r>
          </a:p>
          <a:p>
            <a:endParaRPr lang="en-US" dirty="0"/>
          </a:p>
          <a:p>
            <a:r>
              <a:rPr lang="en-US" dirty="0"/>
              <a:t>First, the model was able to predict housing prices effectively, showing that historical data can be used to forecast future trends.</a:t>
            </a:r>
          </a:p>
          <a:p>
            <a:endParaRPr lang="en-US" dirty="0"/>
          </a:p>
          <a:p>
            <a:r>
              <a:rPr lang="en-US" dirty="0"/>
              <a:t>Second, market trends play a major role in influencing prices, meaning that changes in demand and supply significantly impact outcomes.</a:t>
            </a:r>
          </a:p>
          <a:p>
            <a:endParaRPr lang="en-US" dirty="0"/>
          </a:p>
          <a:p>
            <a:r>
              <a:rPr lang="en-US" dirty="0"/>
              <a:t>Finally, the project demonstrates that data-driven insights can provide meaningful value in understanding the housing market.</a:t>
            </a:r>
          </a:p>
          <a:p>
            <a:endParaRPr lang="en-US" dirty="0"/>
          </a:p>
          <a:p>
            <a:r>
              <a:rPr lang="en-US" dirty="0"/>
              <a:t>In summary, the results confirm that predictive modeling is a useful tool for analyzing real estate trends.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Based on these findings, we developed several recommendations.</a:t>
            </a:r>
          </a:p>
          <a:p>
            <a:endParaRPr lang="en-US" dirty="0"/>
          </a:p>
          <a:p>
            <a:r>
              <a:rPr lang="en-US" dirty="0"/>
              <a:t>First, the model should be deployed into a dashboard so that users can easily access predictions and insights.</a:t>
            </a:r>
          </a:p>
          <a:p>
            <a:endParaRPr lang="en-US" dirty="0"/>
          </a:p>
          <a:p>
            <a:r>
              <a:rPr lang="en-US" dirty="0"/>
              <a:t>Second, the model should be updated regularly with new data to maintain accuracy over time.</a:t>
            </a:r>
          </a:p>
          <a:p>
            <a:endParaRPr lang="en-US" dirty="0"/>
          </a:p>
          <a:p>
            <a:r>
              <a:rPr lang="en-US" dirty="0"/>
              <a:t>Third, incorporating additional external data sources could further improve prediction performance.</a:t>
            </a:r>
          </a:p>
          <a:p>
            <a:endParaRPr lang="en-US" dirty="0"/>
          </a:p>
          <a:p>
            <a:r>
              <a:rPr lang="en-US" dirty="0"/>
              <a:t>Finally, the model should be continuously refined and improved as more data becomes available.</a:t>
            </a:r>
          </a:p>
          <a:p>
            <a:endParaRPr lang="en-US" dirty="0"/>
          </a:p>
          <a:p>
            <a:r>
              <a:rPr lang="en-US" dirty="0"/>
              <a:t>These steps will help ensure that the system remains relevant, accurate, and valuable for decision-making.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image" Target="../media/image6.sv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jpeg"/><Relationship Id="rId5" Type="http://schemas.openxmlformats.org/officeDocument/2006/relationships/image" Target="../media/image12.pn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jpeg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28063" y="2246580"/>
            <a:ext cx="4819429" cy="3497883"/>
            <a:chOff x="0" y="0"/>
            <a:chExt cx="839915" cy="609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39915" cy="609600"/>
            </a:xfrm>
            <a:custGeom>
              <a:avLst/>
              <a:gdLst/>
              <a:ahLst/>
              <a:cxnLst/>
              <a:rect l="l" t="t" r="r" b="b"/>
              <a:pathLst>
                <a:path w="839915" h="609600">
                  <a:moveTo>
                    <a:pt x="636715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839915" y="609600"/>
                  </a:lnTo>
                  <a:lnTo>
                    <a:pt x="636715" y="0"/>
                  </a:lnTo>
                  <a:close/>
                </a:path>
              </a:pathLst>
            </a:custGeom>
            <a:blipFill>
              <a:blip r:embed="rId3"/>
              <a:stretch>
                <a:fillRect l="-4384" r="-438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2467085" y="2246580"/>
            <a:ext cx="4819429" cy="3497883"/>
            <a:chOff x="0" y="0"/>
            <a:chExt cx="839915" cy="6096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39915" cy="609600"/>
            </a:xfrm>
            <a:custGeom>
              <a:avLst/>
              <a:gdLst/>
              <a:ahLst/>
              <a:cxnLst/>
              <a:rect l="l" t="t" r="r" b="b"/>
              <a:pathLst>
                <a:path w="839915" h="609600">
                  <a:moveTo>
                    <a:pt x="636715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839915" y="609600"/>
                  </a:lnTo>
                  <a:lnTo>
                    <a:pt x="636715" y="0"/>
                  </a:lnTo>
                  <a:close/>
                </a:path>
              </a:pathLst>
            </a:custGeom>
            <a:blipFill>
              <a:blip r:embed="rId4"/>
              <a:stretch>
                <a:fillRect l="-4384" r="-438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162234" y="2246580"/>
            <a:ext cx="4819429" cy="3497883"/>
            <a:chOff x="0" y="0"/>
            <a:chExt cx="839915" cy="6096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39915" cy="609600"/>
            </a:xfrm>
            <a:custGeom>
              <a:avLst/>
              <a:gdLst/>
              <a:ahLst/>
              <a:cxnLst/>
              <a:rect l="l" t="t" r="r" b="b"/>
              <a:pathLst>
                <a:path w="839915" h="609600">
                  <a:moveTo>
                    <a:pt x="636715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839915" y="609600"/>
                  </a:lnTo>
                  <a:lnTo>
                    <a:pt x="636715" y="0"/>
                  </a:lnTo>
                  <a:close/>
                </a:path>
              </a:pathLst>
            </a:custGeom>
            <a:blipFill>
              <a:blip r:embed="rId5"/>
              <a:stretch>
                <a:fillRect l="-4384" r="-438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97708" y="6399129"/>
            <a:ext cx="9358184" cy="504429"/>
            <a:chOff x="0" y="0"/>
            <a:chExt cx="3664051" cy="19750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664051" cy="197501"/>
            </a:xfrm>
            <a:custGeom>
              <a:avLst/>
              <a:gdLst/>
              <a:ahLst/>
              <a:cxnLst/>
              <a:rect l="l" t="t" r="r" b="b"/>
              <a:pathLst>
                <a:path w="3664051" h="197501">
                  <a:moveTo>
                    <a:pt x="0" y="0"/>
                  </a:moveTo>
                  <a:lnTo>
                    <a:pt x="3664051" y="0"/>
                  </a:lnTo>
                  <a:lnTo>
                    <a:pt x="3664051" y="197501"/>
                  </a:lnTo>
                  <a:lnTo>
                    <a:pt x="0" y="197501"/>
                  </a:lnTo>
                  <a:close/>
                </a:path>
              </a:pathLst>
            </a:custGeom>
            <a:solidFill>
              <a:srgbClr val="7F553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3664051" cy="226076"/>
            </a:xfrm>
            <a:prstGeom prst="rect">
              <a:avLst/>
            </a:prstGeom>
          </p:spPr>
          <p:txBody>
            <a:bodyPr lIns="92996" tIns="92996" rIns="92996" bIns="92996" rtlCol="0" anchor="ctr"/>
            <a:lstStyle/>
            <a:p>
              <a:pPr algn="ctr">
                <a:lnSpc>
                  <a:spcPts val="179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97708" y="701431"/>
            <a:ext cx="9358184" cy="812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77"/>
              </a:lnSpc>
              <a:spcBef>
                <a:spcPct val="0"/>
              </a:spcBef>
            </a:pPr>
            <a:r>
              <a:rPr lang="en-US" sz="4769" b="1" dirty="0">
                <a:solidFill>
                  <a:srgbClr val="7F55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REAL ESTATE ANALYTICS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16661" y="1612059"/>
            <a:ext cx="6920277" cy="488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00"/>
              </a:lnSpc>
              <a:spcBef>
                <a:spcPct val="0"/>
              </a:spcBef>
            </a:pPr>
            <a:r>
              <a:rPr lang="en-US" sz="2928">
                <a:solidFill>
                  <a:srgbClr val="7F553E"/>
                </a:solidFill>
                <a:latin typeface="Montserrat"/>
                <a:ea typeface="Montserrat"/>
                <a:cs typeface="Montserrat"/>
                <a:sym typeface="Montserrat"/>
              </a:rPr>
              <a:t>MS-ADS 508 GROUP 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88660" y="6473941"/>
            <a:ext cx="8857596" cy="315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2"/>
              </a:lnSpc>
              <a:spcBef>
                <a:spcPct val="0"/>
              </a:spcBef>
            </a:pPr>
            <a:r>
              <a:rPr lang="en-US" sz="183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Jun Sik Ryu, Faye Shawntel Corprew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382495" y="447052"/>
            <a:ext cx="5502151" cy="340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spcBef>
                <a:spcPct val="0"/>
              </a:spcBef>
            </a:pPr>
            <a:r>
              <a:rPr lang="en-US" sz="2098">
                <a:solidFill>
                  <a:srgbClr val="7F553E"/>
                </a:solidFill>
                <a:latin typeface="Montserrat"/>
                <a:ea typeface="Montserrat"/>
                <a:cs typeface="Montserrat"/>
                <a:sym typeface="Montserrat"/>
              </a:rPr>
              <a:t>J&amp;F Realty Insighters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144948"/>
          </a:xfrm>
          <a:custGeom>
            <a:avLst/>
            <a:gdLst/>
            <a:ahLst/>
            <a:cxnLst/>
            <a:rect l="l" t="t" r="r" b="b"/>
            <a:pathLst>
              <a:path w="9753600" h="7144948">
                <a:moveTo>
                  <a:pt x="0" y="0"/>
                </a:moveTo>
                <a:lnTo>
                  <a:pt x="9753600" y="0"/>
                </a:lnTo>
                <a:lnTo>
                  <a:pt x="9753600" y="7144948"/>
                </a:lnTo>
                <a:lnTo>
                  <a:pt x="0" y="71449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063" b="-1944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487680" y="292951"/>
            <a:ext cx="8778240" cy="1219200"/>
            <a:chOff x="0" y="0"/>
            <a:chExt cx="11704320" cy="16256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704320" cy="1625600"/>
            </a:xfrm>
            <a:custGeom>
              <a:avLst/>
              <a:gdLst/>
              <a:ahLst/>
              <a:cxnLst/>
              <a:rect l="l" t="t" r="r" b="b"/>
              <a:pathLst>
                <a:path w="11704320" h="162560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0292" b="-9029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0"/>
              <a:ext cx="11704320" cy="17208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631"/>
                </a:lnSpc>
              </a:pPr>
              <a:r>
                <a:rPr lang="en-US" sz="4693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Challenge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79120" y="1695450"/>
            <a:ext cx="8595360" cy="140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4237" lvl="1" indent="-192119" algn="l">
              <a:lnSpc>
                <a:spcPts val="3583"/>
              </a:lnSpc>
              <a:buFont typeface="Arial"/>
              <a:buChar char="•"/>
            </a:pPr>
            <a:r>
              <a:rPr lang="en-US" sz="298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Housing prices fluctuate unpredictably</a:t>
            </a:r>
          </a:p>
          <a:p>
            <a:pPr marL="384364" lvl="1" indent="-192182" algn="l">
              <a:lnSpc>
                <a:spcPts val="3583"/>
              </a:lnSpc>
              <a:buFont typeface="Arial"/>
              <a:buChar char="•"/>
            </a:pPr>
            <a:r>
              <a:rPr lang="en-US" sz="298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Limited data-driven guidance</a:t>
            </a:r>
          </a:p>
          <a:p>
            <a:pPr marL="384237" lvl="1" indent="-192119" algn="l">
              <a:lnSpc>
                <a:spcPts val="3583"/>
              </a:lnSpc>
              <a:buFont typeface="Arial"/>
              <a:buChar char="•"/>
            </a:pPr>
            <a:r>
              <a:rPr lang="en-US" sz="298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Traditional analysis is slow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D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6031282">
            <a:off x="8109573" y="-1869419"/>
            <a:ext cx="1825014" cy="4159575"/>
          </a:xfrm>
          <a:custGeom>
            <a:avLst/>
            <a:gdLst/>
            <a:ahLst/>
            <a:cxnLst/>
            <a:rect l="l" t="t" r="r" b="b"/>
            <a:pathLst>
              <a:path w="1825014" h="4159575">
                <a:moveTo>
                  <a:pt x="0" y="0"/>
                </a:moveTo>
                <a:lnTo>
                  <a:pt x="1825014" y="0"/>
                </a:lnTo>
                <a:lnTo>
                  <a:pt x="1825014" y="4159575"/>
                </a:lnTo>
                <a:lnTo>
                  <a:pt x="0" y="41595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4936854">
            <a:off x="-1190204" y="5343503"/>
            <a:ext cx="1825014" cy="4159575"/>
          </a:xfrm>
          <a:custGeom>
            <a:avLst/>
            <a:gdLst/>
            <a:ahLst/>
            <a:cxnLst/>
            <a:rect l="l" t="t" r="r" b="b"/>
            <a:pathLst>
              <a:path w="1825014" h="4159575">
                <a:moveTo>
                  <a:pt x="0" y="0"/>
                </a:moveTo>
                <a:lnTo>
                  <a:pt x="1825014" y="0"/>
                </a:lnTo>
                <a:lnTo>
                  <a:pt x="1825014" y="4159575"/>
                </a:lnTo>
                <a:lnTo>
                  <a:pt x="0" y="41595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393268">
            <a:off x="-1516913" y="-236960"/>
            <a:ext cx="3551095" cy="1936961"/>
          </a:xfrm>
          <a:custGeom>
            <a:avLst/>
            <a:gdLst/>
            <a:ahLst/>
            <a:cxnLst/>
            <a:rect l="l" t="t" r="r" b="b"/>
            <a:pathLst>
              <a:path w="3551095" h="1936961">
                <a:moveTo>
                  <a:pt x="0" y="0"/>
                </a:moveTo>
                <a:lnTo>
                  <a:pt x="3551094" y="0"/>
                </a:lnTo>
                <a:lnTo>
                  <a:pt x="3551094" y="1936960"/>
                </a:lnTo>
                <a:lnTo>
                  <a:pt x="0" y="19369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1684715" y="1702196"/>
            <a:ext cx="2774858" cy="863896"/>
            <a:chOff x="0" y="0"/>
            <a:chExt cx="2974756" cy="926130"/>
          </a:xfrm>
        </p:grpSpPr>
        <p:sp>
          <p:nvSpPr>
            <p:cNvPr id="6" name="Freeform 6"/>
            <p:cNvSpPr/>
            <p:nvPr/>
          </p:nvSpPr>
          <p:spPr>
            <a:xfrm>
              <a:off x="48260" y="48260"/>
              <a:ext cx="2926497" cy="877870"/>
            </a:xfrm>
            <a:custGeom>
              <a:avLst/>
              <a:gdLst/>
              <a:ahLst/>
              <a:cxnLst/>
              <a:rect l="l" t="t" r="r" b="b"/>
              <a:pathLst>
                <a:path w="2926497" h="877870">
                  <a:moveTo>
                    <a:pt x="0" y="0"/>
                  </a:moveTo>
                  <a:lnTo>
                    <a:pt x="2926497" y="0"/>
                  </a:lnTo>
                  <a:lnTo>
                    <a:pt x="2926497" y="877870"/>
                  </a:lnTo>
                  <a:lnTo>
                    <a:pt x="0" y="877870"/>
                  </a:lnTo>
                  <a:close/>
                </a:path>
              </a:pathLst>
            </a:custGeom>
            <a:solidFill>
              <a:srgbClr val="6155A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6350" y="6350"/>
              <a:ext cx="2926497" cy="877870"/>
            </a:xfrm>
            <a:custGeom>
              <a:avLst/>
              <a:gdLst/>
              <a:ahLst/>
              <a:cxnLst/>
              <a:rect l="l" t="t" r="r" b="b"/>
              <a:pathLst>
                <a:path w="2926497" h="877870">
                  <a:moveTo>
                    <a:pt x="0" y="0"/>
                  </a:moveTo>
                  <a:lnTo>
                    <a:pt x="2926497" y="0"/>
                  </a:lnTo>
                  <a:lnTo>
                    <a:pt x="2926497" y="877870"/>
                  </a:lnTo>
                  <a:lnTo>
                    <a:pt x="0" y="877870"/>
                  </a:lnTo>
                  <a:close/>
                </a:path>
              </a:pathLst>
            </a:custGeom>
            <a:solidFill>
              <a:srgbClr val="D3C9E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2939197" cy="890570"/>
            </a:xfrm>
            <a:custGeom>
              <a:avLst/>
              <a:gdLst/>
              <a:ahLst/>
              <a:cxnLst/>
              <a:rect l="l" t="t" r="r" b="b"/>
              <a:pathLst>
                <a:path w="2939197" h="890570">
                  <a:moveTo>
                    <a:pt x="2939197" y="890570"/>
                  </a:moveTo>
                  <a:lnTo>
                    <a:pt x="0" y="890570"/>
                  </a:lnTo>
                  <a:lnTo>
                    <a:pt x="0" y="0"/>
                  </a:lnTo>
                  <a:lnTo>
                    <a:pt x="2939197" y="0"/>
                  </a:lnTo>
                  <a:lnTo>
                    <a:pt x="2939197" y="890570"/>
                  </a:lnTo>
                  <a:close/>
                  <a:moveTo>
                    <a:pt x="12700" y="877870"/>
                  </a:moveTo>
                  <a:lnTo>
                    <a:pt x="2926497" y="877870"/>
                  </a:lnTo>
                  <a:lnTo>
                    <a:pt x="2926497" y="12700"/>
                  </a:lnTo>
                  <a:lnTo>
                    <a:pt x="12700" y="12700"/>
                  </a:lnTo>
                  <a:lnTo>
                    <a:pt x="12700" y="877870"/>
                  </a:lnTo>
                  <a:close/>
                </a:path>
              </a:pathLst>
            </a:custGeom>
            <a:solidFill>
              <a:srgbClr val="270949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AutoShape 9"/>
          <p:cNvSpPr/>
          <p:nvPr/>
        </p:nvSpPr>
        <p:spPr>
          <a:xfrm>
            <a:off x="7840023" y="2134144"/>
            <a:ext cx="702496" cy="0"/>
          </a:xfrm>
          <a:prstGeom prst="line">
            <a:avLst/>
          </a:prstGeom>
          <a:ln w="28575" cap="rnd">
            <a:solidFill>
              <a:srgbClr val="6155A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5168892" y="1702196"/>
            <a:ext cx="2774858" cy="863896"/>
            <a:chOff x="0" y="0"/>
            <a:chExt cx="2974756" cy="926130"/>
          </a:xfrm>
        </p:grpSpPr>
        <p:sp>
          <p:nvSpPr>
            <p:cNvPr id="11" name="Freeform 11"/>
            <p:cNvSpPr/>
            <p:nvPr/>
          </p:nvSpPr>
          <p:spPr>
            <a:xfrm>
              <a:off x="48260" y="48260"/>
              <a:ext cx="2926497" cy="877870"/>
            </a:xfrm>
            <a:custGeom>
              <a:avLst/>
              <a:gdLst/>
              <a:ahLst/>
              <a:cxnLst/>
              <a:rect l="l" t="t" r="r" b="b"/>
              <a:pathLst>
                <a:path w="2926497" h="877870">
                  <a:moveTo>
                    <a:pt x="0" y="0"/>
                  </a:moveTo>
                  <a:lnTo>
                    <a:pt x="2926497" y="0"/>
                  </a:lnTo>
                  <a:lnTo>
                    <a:pt x="2926497" y="877870"/>
                  </a:lnTo>
                  <a:lnTo>
                    <a:pt x="0" y="877870"/>
                  </a:lnTo>
                  <a:close/>
                </a:path>
              </a:pathLst>
            </a:custGeom>
            <a:solidFill>
              <a:srgbClr val="6155A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6350" y="6350"/>
              <a:ext cx="2926497" cy="877870"/>
            </a:xfrm>
            <a:custGeom>
              <a:avLst/>
              <a:gdLst/>
              <a:ahLst/>
              <a:cxnLst/>
              <a:rect l="l" t="t" r="r" b="b"/>
              <a:pathLst>
                <a:path w="2926497" h="877870">
                  <a:moveTo>
                    <a:pt x="0" y="0"/>
                  </a:moveTo>
                  <a:lnTo>
                    <a:pt x="2926497" y="0"/>
                  </a:lnTo>
                  <a:lnTo>
                    <a:pt x="2926497" y="877870"/>
                  </a:lnTo>
                  <a:lnTo>
                    <a:pt x="0" y="8778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2939197" cy="890570"/>
            </a:xfrm>
            <a:custGeom>
              <a:avLst/>
              <a:gdLst/>
              <a:ahLst/>
              <a:cxnLst/>
              <a:rect l="l" t="t" r="r" b="b"/>
              <a:pathLst>
                <a:path w="2939197" h="890570">
                  <a:moveTo>
                    <a:pt x="2939197" y="890570"/>
                  </a:moveTo>
                  <a:lnTo>
                    <a:pt x="0" y="890570"/>
                  </a:lnTo>
                  <a:lnTo>
                    <a:pt x="0" y="0"/>
                  </a:lnTo>
                  <a:lnTo>
                    <a:pt x="2939197" y="0"/>
                  </a:lnTo>
                  <a:lnTo>
                    <a:pt x="2939197" y="890570"/>
                  </a:lnTo>
                  <a:close/>
                  <a:moveTo>
                    <a:pt x="12700" y="877870"/>
                  </a:moveTo>
                  <a:lnTo>
                    <a:pt x="2926497" y="877870"/>
                  </a:lnTo>
                  <a:lnTo>
                    <a:pt x="2926497" y="12700"/>
                  </a:lnTo>
                  <a:lnTo>
                    <a:pt x="12700" y="12700"/>
                  </a:lnTo>
                  <a:lnTo>
                    <a:pt x="12700" y="877870"/>
                  </a:lnTo>
                  <a:close/>
                </a:path>
              </a:pathLst>
            </a:custGeom>
            <a:solidFill>
              <a:srgbClr val="270949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68892" y="3442231"/>
            <a:ext cx="2774858" cy="863896"/>
            <a:chOff x="0" y="0"/>
            <a:chExt cx="2974756" cy="926130"/>
          </a:xfrm>
        </p:grpSpPr>
        <p:sp>
          <p:nvSpPr>
            <p:cNvPr id="15" name="Freeform 15"/>
            <p:cNvSpPr/>
            <p:nvPr/>
          </p:nvSpPr>
          <p:spPr>
            <a:xfrm>
              <a:off x="48260" y="48260"/>
              <a:ext cx="2926497" cy="877870"/>
            </a:xfrm>
            <a:custGeom>
              <a:avLst/>
              <a:gdLst/>
              <a:ahLst/>
              <a:cxnLst/>
              <a:rect l="l" t="t" r="r" b="b"/>
              <a:pathLst>
                <a:path w="2926497" h="877870">
                  <a:moveTo>
                    <a:pt x="0" y="0"/>
                  </a:moveTo>
                  <a:lnTo>
                    <a:pt x="2926497" y="0"/>
                  </a:lnTo>
                  <a:lnTo>
                    <a:pt x="2926497" y="877870"/>
                  </a:lnTo>
                  <a:lnTo>
                    <a:pt x="0" y="877870"/>
                  </a:lnTo>
                  <a:close/>
                </a:path>
              </a:pathLst>
            </a:custGeom>
            <a:solidFill>
              <a:srgbClr val="6155A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6350" y="6350"/>
              <a:ext cx="2926497" cy="877870"/>
            </a:xfrm>
            <a:custGeom>
              <a:avLst/>
              <a:gdLst/>
              <a:ahLst/>
              <a:cxnLst/>
              <a:rect l="l" t="t" r="r" b="b"/>
              <a:pathLst>
                <a:path w="2926497" h="877870">
                  <a:moveTo>
                    <a:pt x="0" y="0"/>
                  </a:moveTo>
                  <a:lnTo>
                    <a:pt x="2926497" y="0"/>
                  </a:lnTo>
                  <a:lnTo>
                    <a:pt x="2926497" y="877870"/>
                  </a:lnTo>
                  <a:lnTo>
                    <a:pt x="0" y="877870"/>
                  </a:lnTo>
                  <a:close/>
                </a:path>
              </a:pathLst>
            </a:custGeom>
            <a:solidFill>
              <a:srgbClr val="D3C9E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0" y="0"/>
              <a:ext cx="2939197" cy="890570"/>
            </a:xfrm>
            <a:custGeom>
              <a:avLst/>
              <a:gdLst/>
              <a:ahLst/>
              <a:cxnLst/>
              <a:rect l="l" t="t" r="r" b="b"/>
              <a:pathLst>
                <a:path w="2939197" h="890570">
                  <a:moveTo>
                    <a:pt x="2939197" y="890570"/>
                  </a:moveTo>
                  <a:lnTo>
                    <a:pt x="0" y="890570"/>
                  </a:lnTo>
                  <a:lnTo>
                    <a:pt x="0" y="0"/>
                  </a:lnTo>
                  <a:lnTo>
                    <a:pt x="2939197" y="0"/>
                  </a:lnTo>
                  <a:lnTo>
                    <a:pt x="2939197" y="890570"/>
                  </a:lnTo>
                  <a:close/>
                  <a:moveTo>
                    <a:pt x="12700" y="877870"/>
                  </a:moveTo>
                  <a:lnTo>
                    <a:pt x="2926497" y="877870"/>
                  </a:lnTo>
                  <a:lnTo>
                    <a:pt x="2926497" y="12700"/>
                  </a:lnTo>
                  <a:lnTo>
                    <a:pt x="12700" y="12700"/>
                  </a:lnTo>
                  <a:lnTo>
                    <a:pt x="12700" y="877870"/>
                  </a:lnTo>
                  <a:close/>
                </a:path>
              </a:pathLst>
            </a:custGeom>
            <a:solidFill>
              <a:srgbClr val="270949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684715" y="3442231"/>
            <a:ext cx="2774858" cy="863896"/>
            <a:chOff x="0" y="0"/>
            <a:chExt cx="2974756" cy="926130"/>
          </a:xfrm>
        </p:grpSpPr>
        <p:sp>
          <p:nvSpPr>
            <p:cNvPr id="19" name="Freeform 19"/>
            <p:cNvSpPr/>
            <p:nvPr/>
          </p:nvSpPr>
          <p:spPr>
            <a:xfrm>
              <a:off x="48260" y="48260"/>
              <a:ext cx="2926497" cy="877870"/>
            </a:xfrm>
            <a:custGeom>
              <a:avLst/>
              <a:gdLst/>
              <a:ahLst/>
              <a:cxnLst/>
              <a:rect l="l" t="t" r="r" b="b"/>
              <a:pathLst>
                <a:path w="2926497" h="877870">
                  <a:moveTo>
                    <a:pt x="0" y="0"/>
                  </a:moveTo>
                  <a:lnTo>
                    <a:pt x="2926497" y="0"/>
                  </a:lnTo>
                  <a:lnTo>
                    <a:pt x="2926497" y="877870"/>
                  </a:lnTo>
                  <a:lnTo>
                    <a:pt x="0" y="877870"/>
                  </a:lnTo>
                  <a:close/>
                </a:path>
              </a:pathLst>
            </a:custGeom>
            <a:solidFill>
              <a:srgbClr val="6155A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6350" y="6350"/>
              <a:ext cx="2926497" cy="877870"/>
            </a:xfrm>
            <a:custGeom>
              <a:avLst/>
              <a:gdLst/>
              <a:ahLst/>
              <a:cxnLst/>
              <a:rect l="l" t="t" r="r" b="b"/>
              <a:pathLst>
                <a:path w="2926497" h="877870">
                  <a:moveTo>
                    <a:pt x="0" y="0"/>
                  </a:moveTo>
                  <a:lnTo>
                    <a:pt x="2926497" y="0"/>
                  </a:lnTo>
                  <a:lnTo>
                    <a:pt x="2926497" y="877870"/>
                  </a:lnTo>
                  <a:lnTo>
                    <a:pt x="0" y="8778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0" y="0"/>
              <a:ext cx="2939197" cy="890570"/>
            </a:xfrm>
            <a:custGeom>
              <a:avLst/>
              <a:gdLst/>
              <a:ahLst/>
              <a:cxnLst/>
              <a:rect l="l" t="t" r="r" b="b"/>
              <a:pathLst>
                <a:path w="2939197" h="890570">
                  <a:moveTo>
                    <a:pt x="2939197" y="890570"/>
                  </a:moveTo>
                  <a:lnTo>
                    <a:pt x="0" y="890570"/>
                  </a:lnTo>
                  <a:lnTo>
                    <a:pt x="0" y="0"/>
                  </a:lnTo>
                  <a:lnTo>
                    <a:pt x="2939197" y="0"/>
                  </a:lnTo>
                  <a:lnTo>
                    <a:pt x="2939197" y="890570"/>
                  </a:lnTo>
                  <a:close/>
                  <a:moveTo>
                    <a:pt x="12700" y="877870"/>
                  </a:moveTo>
                  <a:lnTo>
                    <a:pt x="2926497" y="877870"/>
                  </a:lnTo>
                  <a:lnTo>
                    <a:pt x="2926497" y="12700"/>
                  </a:lnTo>
                  <a:lnTo>
                    <a:pt x="12700" y="12700"/>
                  </a:lnTo>
                  <a:lnTo>
                    <a:pt x="12700" y="877870"/>
                  </a:lnTo>
                  <a:close/>
                </a:path>
              </a:pathLst>
            </a:custGeom>
            <a:solidFill>
              <a:srgbClr val="270949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" name="AutoShape 22"/>
          <p:cNvSpPr/>
          <p:nvPr/>
        </p:nvSpPr>
        <p:spPr>
          <a:xfrm>
            <a:off x="4439120" y="2134144"/>
            <a:ext cx="674497" cy="0"/>
          </a:xfrm>
          <a:prstGeom prst="line">
            <a:avLst/>
          </a:prstGeom>
          <a:ln w="28575" cap="rnd">
            <a:solidFill>
              <a:srgbClr val="6155A6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23" name="AutoShape 23"/>
          <p:cNvSpPr/>
          <p:nvPr/>
        </p:nvSpPr>
        <p:spPr>
          <a:xfrm rot="5400000">
            <a:off x="7693933" y="2982731"/>
            <a:ext cx="1725748" cy="0"/>
          </a:xfrm>
          <a:prstGeom prst="line">
            <a:avLst/>
          </a:prstGeom>
          <a:ln w="28575" cap="rnd">
            <a:solidFill>
              <a:srgbClr val="6155A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4" name="AutoShape 24"/>
          <p:cNvSpPr/>
          <p:nvPr/>
        </p:nvSpPr>
        <p:spPr>
          <a:xfrm>
            <a:off x="7943751" y="3845604"/>
            <a:ext cx="627343" cy="0"/>
          </a:xfrm>
          <a:prstGeom prst="line">
            <a:avLst/>
          </a:prstGeom>
          <a:ln w="28575" cap="rnd">
            <a:solidFill>
              <a:srgbClr val="6155A6"/>
            </a:solidFill>
            <a:prstDash val="solid"/>
            <a:headEnd type="triangle" w="lg" len="med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5" name="AutoShape 25"/>
          <p:cNvSpPr/>
          <p:nvPr/>
        </p:nvSpPr>
        <p:spPr>
          <a:xfrm>
            <a:off x="4541550" y="3845604"/>
            <a:ext cx="627343" cy="0"/>
          </a:xfrm>
          <a:prstGeom prst="line">
            <a:avLst/>
          </a:prstGeom>
          <a:ln w="28575" cap="rnd">
            <a:solidFill>
              <a:srgbClr val="6155A6"/>
            </a:solidFill>
            <a:prstDash val="solid"/>
            <a:headEnd type="triangle" w="lg" len="med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 rot="-6007238">
            <a:off x="-664193" y="1400616"/>
            <a:ext cx="1845655" cy="1927577"/>
          </a:xfrm>
          <a:custGeom>
            <a:avLst/>
            <a:gdLst/>
            <a:ahLst/>
            <a:cxnLst/>
            <a:rect l="l" t="t" r="r" b="b"/>
            <a:pathLst>
              <a:path w="1845655" h="1927577">
                <a:moveTo>
                  <a:pt x="0" y="0"/>
                </a:moveTo>
                <a:lnTo>
                  <a:pt x="1845655" y="0"/>
                </a:lnTo>
                <a:lnTo>
                  <a:pt x="1845655" y="1927577"/>
                </a:lnTo>
                <a:lnTo>
                  <a:pt x="0" y="19275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27"/>
          <p:cNvSpPr/>
          <p:nvPr/>
        </p:nvSpPr>
        <p:spPr>
          <a:xfrm rot="-7462698">
            <a:off x="6373974" y="4475319"/>
            <a:ext cx="4977536" cy="5679761"/>
          </a:xfrm>
          <a:custGeom>
            <a:avLst/>
            <a:gdLst/>
            <a:ahLst/>
            <a:cxnLst/>
            <a:rect l="l" t="t" r="r" b="b"/>
            <a:pathLst>
              <a:path w="4977536" h="5679761">
                <a:moveTo>
                  <a:pt x="0" y="0"/>
                </a:moveTo>
                <a:lnTo>
                  <a:pt x="4977537" y="0"/>
                </a:lnTo>
                <a:lnTo>
                  <a:pt x="4977537" y="5679762"/>
                </a:lnTo>
                <a:lnTo>
                  <a:pt x="0" y="56797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 rot="-836962">
            <a:off x="6869764" y="4843148"/>
            <a:ext cx="2147973" cy="2263154"/>
          </a:xfrm>
          <a:custGeom>
            <a:avLst/>
            <a:gdLst/>
            <a:ahLst/>
            <a:cxnLst/>
            <a:rect l="l" t="t" r="r" b="b"/>
            <a:pathLst>
              <a:path w="2147973" h="2263154">
                <a:moveTo>
                  <a:pt x="0" y="0"/>
                </a:moveTo>
                <a:lnTo>
                  <a:pt x="2147974" y="0"/>
                </a:lnTo>
                <a:lnTo>
                  <a:pt x="2147974" y="2263154"/>
                </a:lnTo>
                <a:lnTo>
                  <a:pt x="0" y="226315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TextBox 29"/>
          <p:cNvSpPr txBox="1"/>
          <p:nvPr/>
        </p:nvSpPr>
        <p:spPr>
          <a:xfrm>
            <a:off x="1978557" y="1902562"/>
            <a:ext cx="2187175" cy="377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4"/>
              </a:lnSpc>
            </a:pPr>
            <a:r>
              <a:rPr lang="en-US" sz="2400" b="1" spc="120">
                <a:solidFill>
                  <a:srgbClr val="6155A6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Collect Data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462734" y="1902562"/>
            <a:ext cx="2187175" cy="377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4"/>
              </a:lnSpc>
            </a:pPr>
            <a:r>
              <a:rPr lang="en-US" sz="2400" b="1" spc="120">
                <a:solidFill>
                  <a:srgbClr val="6155A6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Create Model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254617" y="3647103"/>
            <a:ext cx="2585405" cy="377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4"/>
              </a:lnSpc>
            </a:pPr>
            <a:r>
              <a:rPr lang="en-US" sz="2400" b="1" spc="120">
                <a:solidFill>
                  <a:srgbClr val="6155A6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Insights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978557" y="3661391"/>
            <a:ext cx="2187175" cy="377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4"/>
              </a:lnSpc>
            </a:pPr>
            <a:r>
              <a:rPr lang="en-US" sz="2400" b="1" spc="120">
                <a:solidFill>
                  <a:srgbClr val="6155A6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Decisions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487680" y="292951"/>
            <a:ext cx="8778240" cy="1219200"/>
            <a:chOff x="0" y="0"/>
            <a:chExt cx="11704320" cy="16256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1704320" cy="1625600"/>
            </a:xfrm>
            <a:custGeom>
              <a:avLst/>
              <a:gdLst/>
              <a:ahLst/>
              <a:cxnLst/>
              <a:rect l="l" t="t" r="r" b="b"/>
              <a:pathLst>
                <a:path w="11704320" h="162560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t="-90292" b="-9029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95250"/>
              <a:ext cx="11704320" cy="17208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631"/>
                </a:lnSpc>
              </a:pPr>
              <a:r>
                <a:rPr lang="en-US" sz="4693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Our Goal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579120" y="4785317"/>
            <a:ext cx="8595360" cy="1847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4364" lvl="1" indent="-192182" algn="l">
              <a:lnSpc>
                <a:spcPts val="3583"/>
              </a:lnSpc>
              <a:buFont typeface="Arial"/>
              <a:buChar char="•"/>
            </a:pPr>
            <a:r>
              <a:rPr lang="en-US" sz="298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Predict housing prices</a:t>
            </a:r>
          </a:p>
          <a:p>
            <a:pPr marL="384364" lvl="1" indent="-192182" algn="l">
              <a:lnSpc>
                <a:spcPts val="3583"/>
              </a:lnSpc>
              <a:buFont typeface="Arial"/>
              <a:buChar char="•"/>
            </a:pPr>
            <a:r>
              <a:rPr lang="en-US" sz="298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Identify key drivers</a:t>
            </a:r>
          </a:p>
          <a:p>
            <a:pPr marL="384237" lvl="1" indent="-192119" algn="l">
              <a:lnSpc>
                <a:spcPts val="3583"/>
              </a:lnSpc>
              <a:buFont typeface="Arial"/>
              <a:buChar char="•"/>
            </a:pPr>
            <a:r>
              <a:rPr lang="en-US" sz="298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Support stakeholders</a:t>
            </a:r>
          </a:p>
          <a:p>
            <a:pPr marL="384364" lvl="1" indent="-192182" algn="l">
              <a:lnSpc>
                <a:spcPts val="3583"/>
              </a:lnSpc>
              <a:buFont typeface="Arial"/>
              <a:buChar char="•"/>
            </a:pPr>
            <a:r>
              <a:rPr lang="en-US" sz="298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Support better decisions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2734" b="-48179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487680" y="292951"/>
            <a:ext cx="8778240" cy="1219200"/>
            <a:chOff x="0" y="0"/>
            <a:chExt cx="11704320" cy="16256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704320" cy="1625600"/>
            </a:xfrm>
            <a:custGeom>
              <a:avLst/>
              <a:gdLst/>
              <a:ahLst/>
              <a:cxnLst/>
              <a:rect l="l" t="t" r="r" b="b"/>
              <a:pathLst>
                <a:path w="11704320" h="162560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0292" b="-9029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0"/>
              <a:ext cx="11704320" cy="17208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631"/>
                </a:lnSpc>
              </a:pPr>
              <a:r>
                <a:rPr lang="en-US" sz="4693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Implementations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6107790" y="1752600"/>
            <a:ext cx="3227192" cy="677710"/>
          </a:xfrm>
          <a:custGeom>
            <a:avLst/>
            <a:gdLst/>
            <a:ahLst/>
            <a:cxnLst/>
            <a:rect l="l" t="t" r="r" b="b"/>
            <a:pathLst>
              <a:path w="3227192" h="677710">
                <a:moveTo>
                  <a:pt x="0" y="0"/>
                </a:moveTo>
                <a:lnTo>
                  <a:pt x="3227192" y="0"/>
                </a:lnTo>
                <a:lnTo>
                  <a:pt x="3227192" y="677710"/>
                </a:lnTo>
                <a:lnTo>
                  <a:pt x="0" y="6777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5644756" y="3206356"/>
            <a:ext cx="4108844" cy="4108844"/>
          </a:xfrm>
          <a:custGeom>
            <a:avLst/>
            <a:gdLst/>
            <a:ahLst/>
            <a:cxnLst/>
            <a:rect l="l" t="t" r="r" b="b"/>
            <a:pathLst>
              <a:path w="4108844" h="4108844">
                <a:moveTo>
                  <a:pt x="0" y="0"/>
                </a:moveTo>
                <a:lnTo>
                  <a:pt x="4108844" y="0"/>
                </a:lnTo>
                <a:lnTo>
                  <a:pt x="4108844" y="4108844"/>
                </a:lnTo>
                <a:lnTo>
                  <a:pt x="0" y="41088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579120" y="1695450"/>
            <a:ext cx="8595360" cy="2295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4237" lvl="1" indent="-192119" algn="l">
              <a:lnSpc>
                <a:spcPts val="3583"/>
              </a:lnSpc>
              <a:buFont typeface="Arial"/>
              <a:buChar char="•"/>
            </a:pPr>
            <a:r>
              <a:rPr lang="en-US" sz="298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Zillow housing data</a:t>
            </a:r>
          </a:p>
          <a:p>
            <a:pPr marL="384237" lvl="1" indent="-192119" algn="l">
              <a:lnSpc>
                <a:spcPts val="3583"/>
              </a:lnSpc>
              <a:buFont typeface="Arial"/>
              <a:buChar char="•"/>
            </a:pPr>
            <a:r>
              <a:rPr lang="en-US" sz="298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Cleaned and prepared data</a:t>
            </a:r>
          </a:p>
          <a:p>
            <a:pPr marL="384237" lvl="1" indent="-192119" algn="l">
              <a:lnSpc>
                <a:spcPts val="3583"/>
              </a:lnSpc>
              <a:buFont typeface="Arial"/>
              <a:buChar char="•"/>
            </a:pPr>
            <a:r>
              <a:rPr lang="en-US" sz="298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Combined the cleaned and prepared data</a:t>
            </a:r>
          </a:p>
          <a:p>
            <a:pPr marL="384237" lvl="1" indent="-192119" algn="l">
              <a:lnSpc>
                <a:spcPts val="3583"/>
              </a:lnSpc>
              <a:buFont typeface="Arial"/>
              <a:buChar char="•"/>
            </a:pPr>
            <a:r>
              <a:rPr lang="en-US" sz="298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Built predictive model</a:t>
            </a:r>
          </a:p>
          <a:p>
            <a:pPr marL="384364" lvl="1" indent="-192182" algn="l">
              <a:lnSpc>
                <a:spcPts val="3583"/>
              </a:lnSpc>
              <a:buFont typeface="Arial"/>
              <a:buChar char="•"/>
            </a:pPr>
            <a:r>
              <a:rPr lang="en-US" sz="298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Evaluated performance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2734" b="-48179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487680" y="292951"/>
            <a:ext cx="8778240" cy="1219200"/>
            <a:chOff x="0" y="0"/>
            <a:chExt cx="11704320" cy="16256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704320" cy="1625600"/>
            </a:xfrm>
            <a:custGeom>
              <a:avLst/>
              <a:gdLst/>
              <a:ahLst/>
              <a:cxnLst/>
              <a:rect l="l" t="t" r="r" b="b"/>
              <a:pathLst>
                <a:path w="11704320" h="162560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0292" b="-9029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0"/>
              <a:ext cx="11704320" cy="17208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631"/>
                </a:lnSpc>
              </a:pPr>
              <a:r>
                <a:rPr lang="en-US" sz="4693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5644756" y="3206356"/>
            <a:ext cx="4108844" cy="4108844"/>
          </a:xfrm>
          <a:custGeom>
            <a:avLst/>
            <a:gdLst/>
            <a:ahLst/>
            <a:cxnLst/>
            <a:rect l="l" t="t" r="r" b="b"/>
            <a:pathLst>
              <a:path w="4108844" h="4108844">
                <a:moveTo>
                  <a:pt x="0" y="0"/>
                </a:moveTo>
                <a:lnTo>
                  <a:pt x="4108844" y="0"/>
                </a:lnTo>
                <a:lnTo>
                  <a:pt x="4108844" y="4108844"/>
                </a:lnTo>
                <a:lnTo>
                  <a:pt x="0" y="41088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579120" y="1695450"/>
            <a:ext cx="8595360" cy="140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4237" lvl="1" indent="-192119" algn="l">
              <a:lnSpc>
                <a:spcPts val="3583"/>
              </a:lnSpc>
              <a:buFont typeface="Arial"/>
              <a:buChar char="•"/>
            </a:pPr>
            <a:r>
              <a:rPr lang="en-US" sz="298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Model predicts housing prices effectively</a:t>
            </a:r>
          </a:p>
          <a:p>
            <a:pPr marL="384237" lvl="1" indent="-192119" algn="l">
              <a:lnSpc>
                <a:spcPts val="3583"/>
              </a:lnSpc>
              <a:buFont typeface="Arial"/>
              <a:buChar char="•"/>
            </a:pPr>
            <a:r>
              <a:rPr lang="en-US" sz="298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Market trends strongly influence prices</a:t>
            </a:r>
          </a:p>
          <a:p>
            <a:pPr marL="384364" lvl="1" indent="-192182" algn="l">
              <a:lnSpc>
                <a:spcPts val="3583"/>
              </a:lnSpc>
              <a:buFont typeface="Arial"/>
              <a:buChar char="•"/>
            </a:pPr>
            <a:r>
              <a:rPr lang="en-US" sz="298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Data-driven insights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6666" b="-1666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487680" y="292951"/>
            <a:ext cx="8778240" cy="1219200"/>
            <a:chOff x="0" y="0"/>
            <a:chExt cx="11704320" cy="16256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704320" cy="1625600"/>
            </a:xfrm>
            <a:custGeom>
              <a:avLst/>
              <a:gdLst/>
              <a:ahLst/>
              <a:cxnLst/>
              <a:rect l="l" t="t" r="r" b="b"/>
              <a:pathLst>
                <a:path w="11704320" h="162560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0292" b="-9029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0"/>
              <a:ext cx="11704320" cy="17208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631"/>
                </a:lnSpc>
              </a:pPr>
              <a:r>
                <a:rPr lang="en-US" sz="4693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Recommendations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79120" y="1695450"/>
            <a:ext cx="8595360" cy="1847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4237" lvl="1" indent="-192119" algn="l">
              <a:lnSpc>
                <a:spcPts val="3583"/>
              </a:lnSpc>
              <a:buFont typeface="Arial"/>
              <a:buChar char="•"/>
            </a:pPr>
            <a:r>
              <a:rPr lang="en-US" sz="298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Deploy the trained model into dashboard</a:t>
            </a:r>
          </a:p>
          <a:p>
            <a:pPr marL="384237" lvl="1" indent="-192119" algn="l">
              <a:lnSpc>
                <a:spcPts val="3583"/>
              </a:lnSpc>
              <a:buFont typeface="Arial"/>
              <a:buChar char="•"/>
            </a:pPr>
            <a:r>
              <a:rPr lang="en-US" sz="298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Update with new, recent data</a:t>
            </a:r>
          </a:p>
          <a:p>
            <a:pPr marL="384237" lvl="1" indent="-192119" algn="l">
              <a:lnSpc>
                <a:spcPts val="3583"/>
              </a:lnSpc>
              <a:buFont typeface="Arial"/>
              <a:buChar char="•"/>
            </a:pPr>
            <a:r>
              <a:rPr lang="en-US" sz="298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Add more external data sources</a:t>
            </a:r>
          </a:p>
          <a:p>
            <a:pPr marL="384364" lvl="1" indent="-192182" algn="l">
              <a:lnSpc>
                <a:spcPts val="3583"/>
              </a:lnSpc>
              <a:buFont typeface="Arial"/>
              <a:buChar char="•"/>
            </a:pPr>
            <a:r>
              <a:rPr lang="en-US" sz="298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Continuously improve the data model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672</Words>
  <Application>Microsoft Office PowerPoint</Application>
  <PresentationFormat>Custom</PresentationFormat>
  <Paragraphs>102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Montserrat</vt:lpstr>
      <vt:lpstr>Calibri (MS) Bold</vt:lpstr>
      <vt:lpstr>Londrina Solid Heavy</vt:lpstr>
      <vt:lpstr>Calibri</vt:lpstr>
      <vt:lpstr>Calibri (MS)</vt:lpstr>
      <vt:lpstr>Montserrat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Clean_Blue_RealEstate_Presentation.pptx</dc:title>
  <cp:lastModifiedBy>Jun Sik Ryu</cp:lastModifiedBy>
  <cp:revision>2</cp:revision>
  <dcterms:created xsi:type="dcterms:W3CDTF">2006-08-16T00:00:00Z</dcterms:created>
  <dcterms:modified xsi:type="dcterms:W3CDTF">2026-04-12T07:49:36Z</dcterms:modified>
  <dc:identifier>DAHGfy4KUEE</dc:identifier>
</cp:coreProperties>
</file>