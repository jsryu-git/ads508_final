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753600" cy="7315200"/>
  <p:notesSz cx="6858000" cy="9144000"/>
  <p:embeddedFontLst>
    <p:embeddedFont>
      <p:font typeface="Calibri (MS)" panose="020B0604020202020204" charset="0"/>
      <p:regular r:id="rId9"/>
    </p:embeddedFont>
    <p:embeddedFont>
      <p:font typeface="Calibri (MS) Bold" panose="020B0604020202020204" charset="0"/>
      <p:regular r:id="rId10"/>
    </p:embeddedFont>
    <p:embeddedFont>
      <p:font typeface="Londrina Solid Heavy" panose="020B0604020202020204" charset="0"/>
      <p:regular r:id="rId11"/>
    </p:embeddedFont>
    <p:embeddedFont>
      <p:font typeface="Montserrat" panose="00000500000000000000" pitchFamily="2" charset="0"/>
      <p:regular r:id="rId12"/>
    </p:embeddedFont>
    <p:embeddedFont>
      <p:font typeface="Montserrat Bold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72850" autoAdjust="0"/>
  </p:normalViewPr>
  <p:slideViewPr>
    <p:cSldViewPr>
      <p:cViewPr varScale="1">
        <p:scale>
          <a:sx n="88" d="100"/>
          <a:sy n="88" d="100"/>
        </p:scale>
        <p:origin x="184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13.04.2026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860675" y="512763"/>
            <a:ext cx="3422650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/>
              <a:t>Hello everyone, today we will be presenting our project titled Real Estate Analytics: Housing Price Prediction.</a:t>
            </a:r>
          </a:p>
          <a:p>
            <a:endParaRPr lang="en-US" i="0" dirty="0"/>
          </a:p>
          <a:p>
            <a:r>
              <a:rPr lang="en-US" i="0" dirty="0"/>
              <a:t>This project was completed by Group 6 and focuses on using data to better understand and predict housing prices.</a:t>
            </a:r>
          </a:p>
          <a:p>
            <a:endParaRPr lang="en-US" i="0" dirty="0"/>
          </a:p>
          <a:p>
            <a:r>
              <a:rPr lang="en-US" i="0" dirty="0"/>
              <a:t>The goal of this presentation is to walk through the problem, our approach, key findings, and recommendations in a clear and practical way.”</a:t>
            </a:r>
          </a:p>
          <a:p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05220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The housing market is complex and influenced by many factors.</a:t>
            </a:r>
          </a:p>
          <a:p>
            <a:endParaRPr lang="en-US" dirty="0"/>
          </a:p>
          <a:p>
            <a:r>
              <a:rPr lang="en-US" dirty="0"/>
              <a:t>Housing prices fluctuate unpredictably, which makes it difficult for buyers, sellers, and investors to make informed decisions.</a:t>
            </a:r>
          </a:p>
          <a:p>
            <a:endParaRPr lang="en-US" dirty="0"/>
          </a:p>
          <a:p>
            <a:r>
              <a:rPr lang="en-US" dirty="0"/>
              <a:t>Additionally, there is limited data-driven guidance available, and traditional analysis methods tend to be slow and reactive; instead of being predictive.</a:t>
            </a:r>
          </a:p>
          <a:p>
            <a:endParaRPr lang="en-US" dirty="0"/>
          </a:p>
          <a:p>
            <a:r>
              <a:rPr lang="en-US" dirty="0"/>
              <a:t>To address this, our project had three main goals: </a:t>
            </a:r>
          </a:p>
          <a:p>
            <a:r>
              <a:rPr lang="en-US" dirty="0"/>
              <a:t>First, to predict housing prices using historical data.</a:t>
            </a:r>
          </a:p>
          <a:p>
            <a:r>
              <a:rPr lang="en-US" dirty="0"/>
              <a:t>Second, to identify the key factors that drive those price changes.</a:t>
            </a:r>
          </a:p>
          <a:p>
            <a:r>
              <a:rPr lang="en-US" dirty="0"/>
              <a:t>And third, to support stakeholders in making better, data-driven decisions.</a:t>
            </a:r>
          </a:p>
          <a:p>
            <a:endParaRPr lang="en-US" dirty="0"/>
          </a:p>
          <a:p>
            <a:r>
              <a:rPr lang="en-US" dirty="0"/>
              <a:t>Overall, the objective was to reduce uncertainty and improve decision-making using data.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This slide summarizes our overall approach in a simple workflow.</a:t>
            </a:r>
          </a:p>
          <a:p>
            <a:endParaRPr lang="en-US" dirty="0"/>
          </a:p>
          <a:p>
            <a:r>
              <a:rPr lang="en-US" dirty="0"/>
              <a:t>We started by collecting relevant housing data from Zillow.</a:t>
            </a:r>
          </a:p>
          <a:p>
            <a:endParaRPr lang="en-US" dirty="0"/>
          </a:p>
          <a:p>
            <a:r>
              <a:rPr lang="en-US" dirty="0"/>
              <a:t>Next, we created a predictive model using that data.</a:t>
            </a:r>
          </a:p>
          <a:p>
            <a:endParaRPr lang="en-US" dirty="0"/>
          </a:p>
          <a:p>
            <a:r>
              <a:rPr lang="en-US" dirty="0"/>
              <a:t>From the model, we generated insights about pricing patterns.</a:t>
            </a:r>
          </a:p>
          <a:p>
            <a:endParaRPr lang="en-US" dirty="0"/>
          </a:p>
          <a:p>
            <a:r>
              <a:rPr lang="en-US" dirty="0"/>
              <a:t>Finally, those insights can be used to support better business decisions.</a:t>
            </a:r>
          </a:p>
          <a:p>
            <a:endParaRPr lang="en-US" dirty="0"/>
          </a:p>
          <a:p>
            <a:r>
              <a:rPr lang="en-US" dirty="0"/>
              <a:t>This structured approach allowed us to move from raw data all the way to actionable outcomes.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In terms of implementation, we used real-world housing data from Zillow.</a:t>
            </a:r>
          </a:p>
          <a:p>
            <a:endParaRPr lang="en-US" dirty="0"/>
          </a:p>
          <a:p>
            <a:r>
              <a:rPr lang="en-US" dirty="0"/>
              <a:t>The first step was data preparation, where we cleaned and processed the data to ensure quality and consistency.</a:t>
            </a:r>
          </a:p>
          <a:p>
            <a:endParaRPr lang="en-US" dirty="0"/>
          </a:p>
          <a:p>
            <a:r>
              <a:rPr lang="en-US" dirty="0"/>
              <a:t>We then combined multiple datasets to create a more complete view of the housing market.</a:t>
            </a:r>
          </a:p>
          <a:p>
            <a:endParaRPr lang="en-US" dirty="0"/>
          </a:p>
          <a:p>
            <a:r>
              <a:rPr lang="en-US" dirty="0"/>
              <a:t>After preparing the data, we built a predictive model designed to capture patterns in housing prices.</a:t>
            </a:r>
          </a:p>
          <a:p>
            <a:endParaRPr lang="en-US" dirty="0"/>
          </a:p>
          <a:p>
            <a:r>
              <a:rPr lang="en-US" dirty="0"/>
              <a:t>The model was trained and then evaluated using historical data to measure its accuracy.</a:t>
            </a:r>
          </a:p>
          <a:p>
            <a:endParaRPr lang="en-US" dirty="0"/>
          </a:p>
          <a:p>
            <a:r>
              <a:rPr lang="en-US" dirty="0"/>
              <a:t>At a high level, this process follows a standard data science workflow, where data is transformed into a model, and the model produces predictions.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Based on our analysis, we found several important insights.</a:t>
            </a:r>
          </a:p>
          <a:p>
            <a:endParaRPr lang="en-US" dirty="0"/>
          </a:p>
          <a:p>
            <a:r>
              <a:rPr lang="en-US" dirty="0"/>
              <a:t>First, the model was able to predict housing prices effectively, showing that historical data can be used to forecast future trends.</a:t>
            </a:r>
          </a:p>
          <a:p>
            <a:endParaRPr lang="en-US" dirty="0"/>
          </a:p>
          <a:p>
            <a:r>
              <a:rPr lang="en-US" dirty="0"/>
              <a:t>Second, market trends play a major role in influencing prices, meaning that changes in demand and supply significantly impact outcomes.</a:t>
            </a:r>
          </a:p>
          <a:p>
            <a:endParaRPr lang="en-US" dirty="0"/>
          </a:p>
          <a:p>
            <a:r>
              <a:rPr lang="en-US" dirty="0"/>
              <a:t>Finally, the project demonstrates that data-driven insights can provide meaningful value in understanding the housing market.</a:t>
            </a:r>
          </a:p>
          <a:p>
            <a:endParaRPr lang="en-US" dirty="0"/>
          </a:p>
          <a:p>
            <a:r>
              <a:rPr lang="en-US" dirty="0"/>
              <a:t>In summary, the results confirm that predictive modeling is a useful tool for analyzing real estate trends.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/>
              <a:t>Based on these findings, we developed several recommendations.</a:t>
            </a:r>
          </a:p>
          <a:p>
            <a:endParaRPr lang="en-US" dirty="0"/>
          </a:p>
          <a:p>
            <a:r>
              <a:rPr lang="en-US" dirty="0"/>
              <a:t>First, the model should be deployed into a dashboard so that users can easily access predictions and insights.</a:t>
            </a:r>
          </a:p>
          <a:p>
            <a:endParaRPr lang="en-US" dirty="0"/>
          </a:p>
          <a:p>
            <a:r>
              <a:rPr lang="en-US" dirty="0"/>
              <a:t>Second, the model should be updated regularly with new data to maintain accuracy over time.</a:t>
            </a:r>
          </a:p>
          <a:p>
            <a:endParaRPr lang="en-US" dirty="0"/>
          </a:p>
          <a:p>
            <a:r>
              <a:rPr lang="en-US" dirty="0"/>
              <a:t>Third, incorporating additional external data sources could further improve prediction performance.</a:t>
            </a:r>
          </a:p>
          <a:p>
            <a:endParaRPr lang="en-US" dirty="0"/>
          </a:p>
          <a:p>
            <a:r>
              <a:rPr lang="en-US" dirty="0"/>
              <a:t>Finally, the model should be continuously refined and improved as more data becomes available.</a:t>
            </a:r>
          </a:p>
          <a:p>
            <a:endParaRPr lang="en-US" dirty="0"/>
          </a:p>
          <a:p>
            <a:r>
              <a:rPr lang="en-US" dirty="0"/>
              <a:t>These steps will help ensure that the system remains relevant, accurate, and valuable for decision-making.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3.jpeg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6" Type="http://schemas.openxmlformats.org/officeDocument/2006/relationships/image" Target="../media/image2.jpeg"/><Relationship Id="rId5" Type="http://schemas.openxmlformats.org/officeDocument/2006/relationships/image" Target="../media/image1.jpe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9.png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6" Type="http://schemas.openxmlformats.org/officeDocument/2006/relationships/image" Target="../media/image8.svg"/><Relationship Id="rId11" Type="http://schemas.openxmlformats.org/officeDocument/2006/relationships/image" Target="../media/image4.png"/><Relationship Id="rId5" Type="http://schemas.openxmlformats.org/officeDocument/2006/relationships/image" Target="../media/image7.svg"/><Relationship Id="rId10" Type="http://schemas.openxmlformats.org/officeDocument/2006/relationships/image" Target="../media/image6.jpe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.png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6" Type="http://schemas.openxmlformats.org/officeDocument/2006/relationships/image" Target="../media/image6.jpeg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4.xml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5.jpeg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6" Type="http://schemas.openxmlformats.org/officeDocument/2006/relationships/image" Target="../media/image6.jpeg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.png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6" Type="http://schemas.openxmlformats.org/officeDocument/2006/relationships/image" Target="../media/image6.jpeg"/><Relationship Id="rId5" Type="http://schemas.openxmlformats.org/officeDocument/2006/relationships/image" Target="../media/image16.jpe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228063" y="2246580"/>
            <a:ext cx="4819429" cy="3497883"/>
            <a:chOff x="0" y="0"/>
            <a:chExt cx="839915" cy="609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39915" cy="609600"/>
            </a:xfrm>
            <a:custGeom>
              <a:avLst/>
              <a:gdLst/>
              <a:ahLst/>
              <a:cxnLst/>
              <a:rect l="l" t="t" r="r" b="b"/>
              <a:pathLst>
                <a:path w="839915" h="609600">
                  <a:moveTo>
                    <a:pt x="63671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39915" y="609600"/>
                  </a:lnTo>
                  <a:lnTo>
                    <a:pt x="636715" y="0"/>
                  </a:lnTo>
                  <a:close/>
                </a:path>
              </a:pathLst>
            </a:custGeom>
            <a:blipFill>
              <a:blip r:embed="rId5"/>
              <a:stretch>
                <a:fillRect l="-4384" r="-438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67085" y="2246580"/>
            <a:ext cx="4819429" cy="3497883"/>
            <a:chOff x="0" y="0"/>
            <a:chExt cx="839915" cy="609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39915" cy="609600"/>
            </a:xfrm>
            <a:custGeom>
              <a:avLst/>
              <a:gdLst/>
              <a:ahLst/>
              <a:cxnLst/>
              <a:rect l="l" t="t" r="r" b="b"/>
              <a:pathLst>
                <a:path w="839915" h="609600">
                  <a:moveTo>
                    <a:pt x="63671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39915" y="609600"/>
                  </a:lnTo>
                  <a:lnTo>
                    <a:pt x="636715" y="0"/>
                  </a:lnTo>
                  <a:close/>
                </a:path>
              </a:pathLst>
            </a:custGeom>
            <a:blipFill>
              <a:blip r:embed="rId6"/>
              <a:stretch>
                <a:fillRect l="-4384" r="-438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162234" y="2246580"/>
            <a:ext cx="4819429" cy="3497883"/>
            <a:chOff x="0" y="0"/>
            <a:chExt cx="839915" cy="60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39915" cy="609600"/>
            </a:xfrm>
            <a:custGeom>
              <a:avLst/>
              <a:gdLst/>
              <a:ahLst/>
              <a:cxnLst/>
              <a:rect l="l" t="t" r="r" b="b"/>
              <a:pathLst>
                <a:path w="839915" h="609600">
                  <a:moveTo>
                    <a:pt x="636715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839915" y="609600"/>
                  </a:lnTo>
                  <a:lnTo>
                    <a:pt x="636715" y="0"/>
                  </a:lnTo>
                  <a:close/>
                </a:path>
              </a:pathLst>
            </a:custGeom>
            <a:blipFill>
              <a:blip r:embed="rId7"/>
              <a:stretch>
                <a:fillRect l="-4384" r="-438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97708" y="6399129"/>
            <a:ext cx="9358184" cy="504429"/>
            <a:chOff x="0" y="0"/>
            <a:chExt cx="3664051" cy="197501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664051" cy="197501"/>
            </a:xfrm>
            <a:custGeom>
              <a:avLst/>
              <a:gdLst/>
              <a:ahLst/>
              <a:cxnLst/>
              <a:rect l="l" t="t" r="r" b="b"/>
              <a:pathLst>
                <a:path w="3664051" h="197501">
                  <a:moveTo>
                    <a:pt x="0" y="0"/>
                  </a:moveTo>
                  <a:lnTo>
                    <a:pt x="3664051" y="0"/>
                  </a:lnTo>
                  <a:lnTo>
                    <a:pt x="3664051" y="197501"/>
                  </a:lnTo>
                  <a:lnTo>
                    <a:pt x="0" y="197501"/>
                  </a:lnTo>
                  <a:close/>
                </a:path>
              </a:pathLst>
            </a:custGeom>
            <a:solidFill>
              <a:srgbClr val="7F553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3664051" cy="226076"/>
            </a:xfrm>
            <a:prstGeom prst="rect">
              <a:avLst/>
            </a:prstGeom>
          </p:spPr>
          <p:txBody>
            <a:bodyPr lIns="92996" tIns="92996" rIns="92996" bIns="92996" rtlCol="0" anchor="ctr"/>
            <a:lstStyle/>
            <a:p>
              <a:pPr algn="ctr">
                <a:lnSpc>
                  <a:spcPts val="179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97708" y="701431"/>
            <a:ext cx="9358184" cy="812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77"/>
              </a:lnSpc>
              <a:spcBef>
                <a:spcPct val="0"/>
              </a:spcBef>
            </a:pPr>
            <a:r>
              <a:rPr lang="en-US" sz="4769" b="1" dirty="0">
                <a:solidFill>
                  <a:srgbClr val="7F55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REAL ESTATE ANALYTICS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16661" y="1612059"/>
            <a:ext cx="6920277" cy="488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00"/>
              </a:lnSpc>
              <a:spcBef>
                <a:spcPct val="0"/>
              </a:spcBef>
            </a:pPr>
            <a:r>
              <a:rPr lang="en-US" sz="2928">
                <a:solidFill>
                  <a:srgbClr val="7F553E"/>
                </a:solidFill>
                <a:latin typeface="Montserrat"/>
                <a:ea typeface="Montserrat"/>
                <a:cs typeface="Montserrat"/>
                <a:sym typeface="Montserrat"/>
              </a:rPr>
              <a:t>MS-ADS 508 GROUP 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8660" y="6473941"/>
            <a:ext cx="8857596" cy="315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2"/>
              </a:lnSpc>
              <a:spcBef>
                <a:spcPct val="0"/>
              </a:spcBef>
            </a:pPr>
            <a:r>
              <a:rPr lang="en-US" sz="183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Jun Sik Ryu, Faye Shawntel Corprew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82495" y="447052"/>
            <a:ext cx="5502151" cy="340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spcBef>
                <a:spcPct val="0"/>
              </a:spcBef>
            </a:pPr>
            <a:r>
              <a:rPr lang="en-US" sz="2098">
                <a:solidFill>
                  <a:srgbClr val="7F553E"/>
                </a:solidFill>
                <a:latin typeface="Montserrat"/>
                <a:ea typeface="Montserrat"/>
                <a:cs typeface="Montserrat"/>
                <a:sym typeface="Montserrat"/>
              </a:rPr>
              <a:t>J&amp;F Realty Insighters</a:t>
            </a:r>
          </a:p>
        </p:txBody>
      </p:sp>
      <p:pic>
        <p:nvPicPr>
          <p:cNvPr id="55" name="Audio 54">
            <a:hlinkClick r:id="" action="ppaction://media"/>
            <a:extLst>
              <a:ext uri="{FF2B5EF4-FFF2-40B4-BE49-F238E27FC236}">
                <a16:creationId xmlns:a16="http://schemas.microsoft.com/office/drawing/2014/main" id="{6D84C53D-B4C7-34D0-32BF-D4E61CA8A32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rcRect l="-130000" t="-130000" r="-130000" b="-130000"/>
          <a:stretch>
            <a:fillRect/>
          </a:stretch>
        </p:blipFill>
        <p:spPr>
          <a:xfrm>
            <a:off x="7471258" y="5032858"/>
            <a:ext cx="2194560" cy="219456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036"/>
    </mc:Choice>
    <mc:Fallback>
      <p:transition spd="slow" advTm="3003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144948"/>
          </a:xfrm>
          <a:custGeom>
            <a:avLst/>
            <a:gdLst/>
            <a:ahLst/>
            <a:cxnLst/>
            <a:rect l="l" t="t" r="r" b="b"/>
            <a:pathLst>
              <a:path w="9753600" h="7144948">
                <a:moveTo>
                  <a:pt x="0" y="0"/>
                </a:moveTo>
                <a:lnTo>
                  <a:pt x="9753600" y="0"/>
                </a:lnTo>
                <a:lnTo>
                  <a:pt x="9753600" y="7144948"/>
                </a:lnTo>
                <a:lnTo>
                  <a:pt x="0" y="71449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7063" b="-19446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487680" y="292951"/>
            <a:ext cx="8778240" cy="1219200"/>
            <a:chOff x="0" y="0"/>
            <a:chExt cx="11704320" cy="1625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704320" cy="1625600"/>
            </a:xfrm>
            <a:custGeom>
              <a:avLst/>
              <a:gdLst/>
              <a:ahLst/>
              <a:cxnLst/>
              <a:rect l="l" t="t" r="r" b="b"/>
              <a:pathLst>
                <a:path w="11704320" h="1625600">
                  <a:moveTo>
                    <a:pt x="0" y="0"/>
                  </a:moveTo>
                  <a:lnTo>
                    <a:pt x="11704320" y="0"/>
                  </a:lnTo>
                  <a:lnTo>
                    <a:pt x="11704320" y="1625600"/>
                  </a:lnTo>
                  <a:lnTo>
                    <a:pt x="0" y="162560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90292" b="-902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11704320" cy="17208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631"/>
                </a:lnSpc>
              </a:pPr>
              <a:r>
                <a:rPr lang="en-US" sz="469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79120" y="1695450"/>
            <a:ext cx="8595360" cy="140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Housing prices fluctuate unpredictably</a:t>
            </a:r>
          </a:p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Limited data-driven guidance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Traditional analysis is slow</a:t>
            </a:r>
          </a:p>
        </p:txBody>
      </p:sp>
      <p:pic>
        <p:nvPicPr>
          <p:cNvPr id="22" name="Audio 21">
            <a:hlinkClick r:id="" action="ppaction://media"/>
            <a:extLst>
              <a:ext uri="{FF2B5EF4-FFF2-40B4-BE49-F238E27FC236}">
                <a16:creationId xmlns:a16="http://schemas.microsoft.com/office/drawing/2014/main" id="{84E63309-91D0-39F8-FFC1-D7F90A8AA8C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-130000" t="-130000" r="-130000" b="-130000"/>
          <a:stretch>
            <a:fillRect/>
          </a:stretch>
        </p:blipFill>
        <p:spPr>
          <a:xfrm>
            <a:off x="7471258" y="5032858"/>
            <a:ext cx="2194560" cy="219456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6554"/>
    </mc:Choice>
    <mc:Fallback>
      <p:transition spd="slow" advTm="5655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8D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031282">
            <a:off x="8109573" y="-1869419"/>
            <a:ext cx="1825014" cy="4159575"/>
          </a:xfrm>
          <a:custGeom>
            <a:avLst/>
            <a:gdLst/>
            <a:ahLst/>
            <a:cxnLst/>
            <a:rect l="l" t="t" r="r" b="b"/>
            <a:pathLst>
              <a:path w="1825014" h="4159575">
                <a:moveTo>
                  <a:pt x="0" y="0"/>
                </a:moveTo>
                <a:lnTo>
                  <a:pt x="1825014" y="0"/>
                </a:lnTo>
                <a:lnTo>
                  <a:pt x="1825014" y="4159575"/>
                </a:lnTo>
                <a:lnTo>
                  <a:pt x="0" y="41595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-4936854">
            <a:off x="-1190204" y="5343503"/>
            <a:ext cx="1825014" cy="4159575"/>
          </a:xfrm>
          <a:custGeom>
            <a:avLst/>
            <a:gdLst/>
            <a:ahLst/>
            <a:cxnLst/>
            <a:rect l="l" t="t" r="r" b="b"/>
            <a:pathLst>
              <a:path w="1825014" h="4159575">
                <a:moveTo>
                  <a:pt x="0" y="0"/>
                </a:moveTo>
                <a:lnTo>
                  <a:pt x="1825014" y="0"/>
                </a:lnTo>
                <a:lnTo>
                  <a:pt x="1825014" y="4159575"/>
                </a:lnTo>
                <a:lnTo>
                  <a:pt x="0" y="41595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393268">
            <a:off x="-1516913" y="-236960"/>
            <a:ext cx="3551095" cy="1936961"/>
          </a:xfrm>
          <a:custGeom>
            <a:avLst/>
            <a:gdLst/>
            <a:ahLst/>
            <a:cxnLst/>
            <a:rect l="l" t="t" r="r" b="b"/>
            <a:pathLst>
              <a:path w="3551095" h="1936961">
                <a:moveTo>
                  <a:pt x="0" y="0"/>
                </a:moveTo>
                <a:lnTo>
                  <a:pt x="3551094" y="0"/>
                </a:lnTo>
                <a:lnTo>
                  <a:pt x="3551094" y="1936960"/>
                </a:lnTo>
                <a:lnTo>
                  <a:pt x="0" y="193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1684715" y="1702196"/>
            <a:ext cx="2774858" cy="863896"/>
            <a:chOff x="0" y="0"/>
            <a:chExt cx="2974756" cy="926130"/>
          </a:xfrm>
        </p:grpSpPr>
        <p:sp>
          <p:nvSpPr>
            <p:cNvPr id="6" name="Freeform 6"/>
            <p:cNvSpPr/>
            <p:nvPr/>
          </p:nvSpPr>
          <p:spPr>
            <a:xfrm>
              <a:off x="48260" y="4826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6155A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350" y="635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D3C9E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2939197" cy="890570"/>
            </a:xfrm>
            <a:custGeom>
              <a:avLst/>
              <a:gdLst/>
              <a:ahLst/>
              <a:cxnLst/>
              <a:rect l="l" t="t" r="r" b="b"/>
              <a:pathLst>
                <a:path w="2939197" h="890570">
                  <a:moveTo>
                    <a:pt x="2939197" y="890570"/>
                  </a:moveTo>
                  <a:lnTo>
                    <a:pt x="0" y="890570"/>
                  </a:lnTo>
                  <a:lnTo>
                    <a:pt x="0" y="0"/>
                  </a:lnTo>
                  <a:lnTo>
                    <a:pt x="2939197" y="0"/>
                  </a:lnTo>
                  <a:lnTo>
                    <a:pt x="2939197" y="890570"/>
                  </a:lnTo>
                  <a:close/>
                  <a:moveTo>
                    <a:pt x="12700" y="877870"/>
                  </a:moveTo>
                  <a:lnTo>
                    <a:pt x="2926497" y="877870"/>
                  </a:lnTo>
                  <a:lnTo>
                    <a:pt x="2926497" y="12700"/>
                  </a:lnTo>
                  <a:lnTo>
                    <a:pt x="12700" y="12700"/>
                  </a:lnTo>
                  <a:lnTo>
                    <a:pt x="12700" y="877870"/>
                  </a:lnTo>
                  <a:close/>
                </a:path>
              </a:pathLst>
            </a:custGeom>
            <a:solidFill>
              <a:srgbClr val="27094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7840023" y="2134144"/>
            <a:ext cx="702496" cy="0"/>
          </a:xfrm>
          <a:prstGeom prst="line">
            <a:avLst/>
          </a:prstGeom>
          <a:ln w="28575" cap="rnd">
            <a:solidFill>
              <a:srgbClr val="6155A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168892" y="1702196"/>
            <a:ext cx="2774858" cy="863896"/>
            <a:chOff x="0" y="0"/>
            <a:chExt cx="2974756" cy="926130"/>
          </a:xfrm>
        </p:grpSpPr>
        <p:sp>
          <p:nvSpPr>
            <p:cNvPr id="11" name="Freeform 11"/>
            <p:cNvSpPr/>
            <p:nvPr/>
          </p:nvSpPr>
          <p:spPr>
            <a:xfrm>
              <a:off x="48260" y="4826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6155A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6350" y="635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2939197" cy="890570"/>
            </a:xfrm>
            <a:custGeom>
              <a:avLst/>
              <a:gdLst/>
              <a:ahLst/>
              <a:cxnLst/>
              <a:rect l="l" t="t" r="r" b="b"/>
              <a:pathLst>
                <a:path w="2939197" h="890570">
                  <a:moveTo>
                    <a:pt x="2939197" y="890570"/>
                  </a:moveTo>
                  <a:lnTo>
                    <a:pt x="0" y="890570"/>
                  </a:lnTo>
                  <a:lnTo>
                    <a:pt x="0" y="0"/>
                  </a:lnTo>
                  <a:lnTo>
                    <a:pt x="2939197" y="0"/>
                  </a:lnTo>
                  <a:lnTo>
                    <a:pt x="2939197" y="890570"/>
                  </a:lnTo>
                  <a:close/>
                  <a:moveTo>
                    <a:pt x="12700" y="877870"/>
                  </a:moveTo>
                  <a:lnTo>
                    <a:pt x="2926497" y="877870"/>
                  </a:lnTo>
                  <a:lnTo>
                    <a:pt x="2926497" y="12700"/>
                  </a:lnTo>
                  <a:lnTo>
                    <a:pt x="12700" y="12700"/>
                  </a:lnTo>
                  <a:lnTo>
                    <a:pt x="12700" y="877870"/>
                  </a:lnTo>
                  <a:close/>
                </a:path>
              </a:pathLst>
            </a:custGeom>
            <a:solidFill>
              <a:srgbClr val="27094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168892" y="3442231"/>
            <a:ext cx="2774858" cy="863896"/>
            <a:chOff x="0" y="0"/>
            <a:chExt cx="2974756" cy="926130"/>
          </a:xfrm>
        </p:grpSpPr>
        <p:sp>
          <p:nvSpPr>
            <p:cNvPr id="15" name="Freeform 15"/>
            <p:cNvSpPr/>
            <p:nvPr/>
          </p:nvSpPr>
          <p:spPr>
            <a:xfrm>
              <a:off x="48260" y="4826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6155A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350" y="635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D3C9E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0"/>
              <a:ext cx="2939197" cy="890570"/>
            </a:xfrm>
            <a:custGeom>
              <a:avLst/>
              <a:gdLst/>
              <a:ahLst/>
              <a:cxnLst/>
              <a:rect l="l" t="t" r="r" b="b"/>
              <a:pathLst>
                <a:path w="2939197" h="890570">
                  <a:moveTo>
                    <a:pt x="2939197" y="890570"/>
                  </a:moveTo>
                  <a:lnTo>
                    <a:pt x="0" y="890570"/>
                  </a:lnTo>
                  <a:lnTo>
                    <a:pt x="0" y="0"/>
                  </a:lnTo>
                  <a:lnTo>
                    <a:pt x="2939197" y="0"/>
                  </a:lnTo>
                  <a:lnTo>
                    <a:pt x="2939197" y="890570"/>
                  </a:lnTo>
                  <a:close/>
                  <a:moveTo>
                    <a:pt x="12700" y="877870"/>
                  </a:moveTo>
                  <a:lnTo>
                    <a:pt x="2926497" y="877870"/>
                  </a:lnTo>
                  <a:lnTo>
                    <a:pt x="2926497" y="12700"/>
                  </a:lnTo>
                  <a:lnTo>
                    <a:pt x="12700" y="12700"/>
                  </a:lnTo>
                  <a:lnTo>
                    <a:pt x="12700" y="877870"/>
                  </a:lnTo>
                  <a:close/>
                </a:path>
              </a:pathLst>
            </a:custGeom>
            <a:solidFill>
              <a:srgbClr val="27094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84715" y="3442231"/>
            <a:ext cx="2774858" cy="863896"/>
            <a:chOff x="0" y="0"/>
            <a:chExt cx="2974756" cy="926130"/>
          </a:xfrm>
        </p:grpSpPr>
        <p:sp>
          <p:nvSpPr>
            <p:cNvPr id="19" name="Freeform 19"/>
            <p:cNvSpPr/>
            <p:nvPr/>
          </p:nvSpPr>
          <p:spPr>
            <a:xfrm>
              <a:off x="48260" y="4826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6155A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6350" y="6350"/>
              <a:ext cx="2926497" cy="877870"/>
            </a:xfrm>
            <a:custGeom>
              <a:avLst/>
              <a:gdLst/>
              <a:ahLst/>
              <a:cxnLst/>
              <a:rect l="l" t="t" r="r" b="b"/>
              <a:pathLst>
                <a:path w="2926497" h="877870">
                  <a:moveTo>
                    <a:pt x="0" y="0"/>
                  </a:moveTo>
                  <a:lnTo>
                    <a:pt x="2926497" y="0"/>
                  </a:lnTo>
                  <a:lnTo>
                    <a:pt x="2926497" y="877870"/>
                  </a:lnTo>
                  <a:lnTo>
                    <a:pt x="0" y="87787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0"/>
              <a:ext cx="2939197" cy="890570"/>
            </a:xfrm>
            <a:custGeom>
              <a:avLst/>
              <a:gdLst/>
              <a:ahLst/>
              <a:cxnLst/>
              <a:rect l="l" t="t" r="r" b="b"/>
              <a:pathLst>
                <a:path w="2939197" h="890570">
                  <a:moveTo>
                    <a:pt x="2939197" y="890570"/>
                  </a:moveTo>
                  <a:lnTo>
                    <a:pt x="0" y="890570"/>
                  </a:lnTo>
                  <a:lnTo>
                    <a:pt x="0" y="0"/>
                  </a:lnTo>
                  <a:lnTo>
                    <a:pt x="2939197" y="0"/>
                  </a:lnTo>
                  <a:lnTo>
                    <a:pt x="2939197" y="890570"/>
                  </a:lnTo>
                  <a:close/>
                  <a:moveTo>
                    <a:pt x="12700" y="877870"/>
                  </a:moveTo>
                  <a:lnTo>
                    <a:pt x="2926497" y="877870"/>
                  </a:lnTo>
                  <a:lnTo>
                    <a:pt x="2926497" y="12700"/>
                  </a:lnTo>
                  <a:lnTo>
                    <a:pt x="12700" y="12700"/>
                  </a:lnTo>
                  <a:lnTo>
                    <a:pt x="12700" y="877870"/>
                  </a:lnTo>
                  <a:close/>
                </a:path>
              </a:pathLst>
            </a:custGeom>
            <a:solidFill>
              <a:srgbClr val="27094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AutoShape 22"/>
          <p:cNvSpPr/>
          <p:nvPr/>
        </p:nvSpPr>
        <p:spPr>
          <a:xfrm>
            <a:off x="4439120" y="2134144"/>
            <a:ext cx="674497" cy="0"/>
          </a:xfrm>
          <a:prstGeom prst="line">
            <a:avLst/>
          </a:prstGeom>
          <a:ln w="28575" cap="rnd">
            <a:solidFill>
              <a:srgbClr val="6155A6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endParaRPr lang="en-US"/>
          </a:p>
        </p:txBody>
      </p:sp>
      <p:sp>
        <p:nvSpPr>
          <p:cNvPr id="23" name="AutoShape 23"/>
          <p:cNvSpPr/>
          <p:nvPr/>
        </p:nvSpPr>
        <p:spPr>
          <a:xfrm rot="5400000">
            <a:off x="7693933" y="2982731"/>
            <a:ext cx="1725748" cy="0"/>
          </a:xfrm>
          <a:prstGeom prst="line">
            <a:avLst/>
          </a:prstGeom>
          <a:ln w="28575" cap="rnd">
            <a:solidFill>
              <a:srgbClr val="6155A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4" name="AutoShape 24"/>
          <p:cNvSpPr/>
          <p:nvPr/>
        </p:nvSpPr>
        <p:spPr>
          <a:xfrm>
            <a:off x="7943751" y="3845604"/>
            <a:ext cx="627343" cy="0"/>
          </a:xfrm>
          <a:prstGeom prst="line">
            <a:avLst/>
          </a:prstGeom>
          <a:ln w="28575" cap="rnd">
            <a:solidFill>
              <a:srgbClr val="6155A6"/>
            </a:solidFill>
            <a:prstDash val="solid"/>
            <a:headEnd type="triangle" w="lg" len="med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5" name="AutoShape 25"/>
          <p:cNvSpPr/>
          <p:nvPr/>
        </p:nvSpPr>
        <p:spPr>
          <a:xfrm>
            <a:off x="4541550" y="3845604"/>
            <a:ext cx="627343" cy="0"/>
          </a:xfrm>
          <a:prstGeom prst="line">
            <a:avLst/>
          </a:prstGeom>
          <a:ln w="28575" cap="rnd">
            <a:solidFill>
              <a:srgbClr val="6155A6"/>
            </a:solidFill>
            <a:prstDash val="solid"/>
            <a:headEnd type="triangle" w="lg" len="med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 rot="-6007238">
            <a:off x="-664193" y="1400616"/>
            <a:ext cx="1845655" cy="1927577"/>
          </a:xfrm>
          <a:custGeom>
            <a:avLst/>
            <a:gdLst/>
            <a:ahLst/>
            <a:cxnLst/>
            <a:rect l="l" t="t" r="r" b="b"/>
            <a:pathLst>
              <a:path w="1845655" h="1927577">
                <a:moveTo>
                  <a:pt x="0" y="0"/>
                </a:moveTo>
                <a:lnTo>
                  <a:pt x="1845655" y="0"/>
                </a:lnTo>
                <a:lnTo>
                  <a:pt x="1845655" y="1927577"/>
                </a:lnTo>
                <a:lnTo>
                  <a:pt x="0" y="19275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 rot="-7462698">
            <a:off x="6373974" y="4475319"/>
            <a:ext cx="4977536" cy="5679761"/>
          </a:xfrm>
          <a:custGeom>
            <a:avLst/>
            <a:gdLst/>
            <a:ahLst/>
            <a:cxnLst/>
            <a:rect l="l" t="t" r="r" b="b"/>
            <a:pathLst>
              <a:path w="4977536" h="5679761">
                <a:moveTo>
                  <a:pt x="0" y="0"/>
                </a:moveTo>
                <a:lnTo>
                  <a:pt x="4977537" y="0"/>
                </a:lnTo>
                <a:lnTo>
                  <a:pt x="4977537" y="5679762"/>
                </a:lnTo>
                <a:lnTo>
                  <a:pt x="0" y="567976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 rot="-836962">
            <a:off x="6869764" y="4843148"/>
            <a:ext cx="2147973" cy="2263154"/>
          </a:xfrm>
          <a:custGeom>
            <a:avLst/>
            <a:gdLst/>
            <a:ahLst/>
            <a:cxnLst/>
            <a:rect l="l" t="t" r="r" b="b"/>
            <a:pathLst>
              <a:path w="2147973" h="2263154">
                <a:moveTo>
                  <a:pt x="0" y="0"/>
                </a:moveTo>
                <a:lnTo>
                  <a:pt x="2147974" y="0"/>
                </a:lnTo>
                <a:lnTo>
                  <a:pt x="2147974" y="2263154"/>
                </a:lnTo>
                <a:lnTo>
                  <a:pt x="0" y="22631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TextBox 29"/>
          <p:cNvSpPr txBox="1"/>
          <p:nvPr/>
        </p:nvSpPr>
        <p:spPr>
          <a:xfrm>
            <a:off x="1978557" y="1902562"/>
            <a:ext cx="2187175" cy="37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4"/>
              </a:lnSpc>
            </a:pPr>
            <a:r>
              <a:rPr lang="en-US" sz="2400" b="1" spc="120">
                <a:solidFill>
                  <a:srgbClr val="6155A6"/>
                </a:solidFill>
                <a:latin typeface="Londrina Solid Heavy"/>
                <a:ea typeface="Londrina Solid Heavy"/>
                <a:cs typeface="Londrina Solid Heavy"/>
                <a:sym typeface="Londrina Solid Heavy"/>
              </a:rPr>
              <a:t>Collect Data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462734" y="1902562"/>
            <a:ext cx="2187175" cy="37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4"/>
              </a:lnSpc>
            </a:pPr>
            <a:r>
              <a:rPr lang="en-US" sz="2400" b="1" spc="120">
                <a:solidFill>
                  <a:srgbClr val="6155A6"/>
                </a:solidFill>
                <a:latin typeface="Londrina Solid Heavy"/>
                <a:ea typeface="Londrina Solid Heavy"/>
                <a:cs typeface="Londrina Solid Heavy"/>
                <a:sym typeface="Londrina Solid Heavy"/>
              </a:rPr>
              <a:t>Create Model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254617" y="3647103"/>
            <a:ext cx="2585405" cy="37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4"/>
              </a:lnSpc>
            </a:pPr>
            <a:r>
              <a:rPr lang="en-US" sz="2400" b="1" spc="120">
                <a:solidFill>
                  <a:srgbClr val="6155A6"/>
                </a:solidFill>
                <a:latin typeface="Londrina Solid Heavy"/>
                <a:ea typeface="Londrina Solid Heavy"/>
                <a:cs typeface="Londrina Solid Heavy"/>
                <a:sym typeface="Londrina Solid Heavy"/>
              </a:rPr>
              <a:t>Insights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978557" y="3661391"/>
            <a:ext cx="2187175" cy="377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04"/>
              </a:lnSpc>
            </a:pPr>
            <a:r>
              <a:rPr lang="en-US" sz="2400" b="1" spc="120">
                <a:solidFill>
                  <a:srgbClr val="6155A6"/>
                </a:solidFill>
                <a:latin typeface="Londrina Solid Heavy"/>
                <a:ea typeface="Londrina Solid Heavy"/>
                <a:cs typeface="Londrina Solid Heavy"/>
                <a:sym typeface="Londrina Solid Heavy"/>
              </a:rPr>
              <a:t>Decisions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487680" y="292951"/>
            <a:ext cx="8778240" cy="1219200"/>
            <a:chOff x="0" y="0"/>
            <a:chExt cx="11704320" cy="1625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1704320" cy="1625600"/>
            </a:xfrm>
            <a:custGeom>
              <a:avLst/>
              <a:gdLst/>
              <a:ahLst/>
              <a:cxnLst/>
              <a:rect l="l" t="t" r="r" b="b"/>
              <a:pathLst>
                <a:path w="11704320" h="1625600">
                  <a:moveTo>
                    <a:pt x="0" y="0"/>
                  </a:moveTo>
                  <a:lnTo>
                    <a:pt x="11704320" y="0"/>
                  </a:lnTo>
                  <a:lnTo>
                    <a:pt x="11704320" y="1625600"/>
                  </a:lnTo>
                  <a:lnTo>
                    <a:pt x="0" y="1625600"/>
                  </a:lnTo>
                  <a:close/>
                </a:path>
              </a:pathLst>
            </a:custGeom>
            <a:blipFill>
              <a:blip r:embed="rId10">
                <a:alphaModFix amt="0"/>
              </a:blip>
              <a:stretch>
                <a:fillRect t="-90292" b="-902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0"/>
              <a:ext cx="11704320" cy="17208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631"/>
                </a:lnSpc>
              </a:pPr>
              <a:r>
                <a:rPr lang="en-US" sz="469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Our Goal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579120" y="4785317"/>
            <a:ext cx="8595360" cy="1847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Predict housing prices</a:t>
            </a:r>
          </a:p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Identify key drivers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Support stakeholders</a:t>
            </a:r>
          </a:p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Support better decisions</a:t>
            </a:r>
          </a:p>
        </p:txBody>
      </p:sp>
      <p:pic>
        <p:nvPicPr>
          <p:cNvPr id="44" name="Audio 43">
            <a:hlinkClick r:id="" action="ppaction://media"/>
            <a:extLst>
              <a:ext uri="{FF2B5EF4-FFF2-40B4-BE49-F238E27FC236}">
                <a16:creationId xmlns:a16="http://schemas.microsoft.com/office/drawing/2014/main" id="{3BF7F945-2705-7302-0710-C43F4BBA98A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rcRect l="-130000" t="-130000" r="-130000" b="-130000"/>
          <a:stretch>
            <a:fillRect/>
          </a:stretch>
        </p:blipFill>
        <p:spPr>
          <a:xfrm>
            <a:off x="7471258" y="5032858"/>
            <a:ext cx="2194560" cy="219456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5544"/>
    </mc:Choice>
    <mc:Fallback>
      <p:transition spd="slow" advTm="3554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4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52734" b="-48179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487680" y="292951"/>
            <a:ext cx="8778240" cy="1219200"/>
            <a:chOff x="0" y="0"/>
            <a:chExt cx="11704320" cy="1625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704320" cy="1625600"/>
            </a:xfrm>
            <a:custGeom>
              <a:avLst/>
              <a:gdLst/>
              <a:ahLst/>
              <a:cxnLst/>
              <a:rect l="l" t="t" r="r" b="b"/>
              <a:pathLst>
                <a:path w="11704320" h="1625600">
                  <a:moveTo>
                    <a:pt x="0" y="0"/>
                  </a:moveTo>
                  <a:lnTo>
                    <a:pt x="11704320" y="0"/>
                  </a:lnTo>
                  <a:lnTo>
                    <a:pt x="11704320" y="1625600"/>
                  </a:lnTo>
                  <a:lnTo>
                    <a:pt x="0" y="162560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90292" b="-902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11704320" cy="17208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631"/>
                </a:lnSpc>
              </a:pPr>
              <a:r>
                <a:rPr lang="en-US" sz="469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Implementations</a:t>
              </a:r>
            </a:p>
          </p:txBody>
        </p:sp>
      </p:grpSp>
      <p:sp>
        <p:nvSpPr>
          <p:cNvPr id="6" name="Freeform 6"/>
          <p:cNvSpPr/>
          <p:nvPr/>
        </p:nvSpPr>
        <p:spPr>
          <a:xfrm>
            <a:off x="6107790" y="1752600"/>
            <a:ext cx="3227192" cy="677710"/>
          </a:xfrm>
          <a:custGeom>
            <a:avLst/>
            <a:gdLst/>
            <a:ahLst/>
            <a:cxnLst/>
            <a:rect l="l" t="t" r="r" b="b"/>
            <a:pathLst>
              <a:path w="3227192" h="677710">
                <a:moveTo>
                  <a:pt x="0" y="0"/>
                </a:moveTo>
                <a:lnTo>
                  <a:pt x="3227192" y="0"/>
                </a:lnTo>
                <a:lnTo>
                  <a:pt x="3227192" y="677710"/>
                </a:lnTo>
                <a:lnTo>
                  <a:pt x="0" y="6777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5644756" y="3206356"/>
            <a:ext cx="4108844" cy="4108844"/>
          </a:xfrm>
          <a:custGeom>
            <a:avLst/>
            <a:gdLst/>
            <a:ahLst/>
            <a:cxnLst/>
            <a:rect l="l" t="t" r="r" b="b"/>
            <a:pathLst>
              <a:path w="4108844" h="4108844">
                <a:moveTo>
                  <a:pt x="0" y="0"/>
                </a:moveTo>
                <a:lnTo>
                  <a:pt x="4108844" y="0"/>
                </a:lnTo>
                <a:lnTo>
                  <a:pt x="4108844" y="4108844"/>
                </a:lnTo>
                <a:lnTo>
                  <a:pt x="0" y="410884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579120" y="1695450"/>
            <a:ext cx="8595360" cy="229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Zillow housing data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Cleaned and prepared data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Combined the cleaned and prepared data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Built predictive model</a:t>
            </a:r>
          </a:p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Evaluated performance</a:t>
            </a:r>
          </a:p>
        </p:txBody>
      </p:sp>
      <p:pic>
        <p:nvPicPr>
          <p:cNvPr id="17" name="Audio 16">
            <a:hlinkClick r:id="" action="ppaction://media"/>
            <a:extLst>
              <a:ext uri="{FF2B5EF4-FFF2-40B4-BE49-F238E27FC236}">
                <a16:creationId xmlns:a16="http://schemas.microsoft.com/office/drawing/2014/main" id="{E24F2C8A-F425-3F52-8A3F-4CDF3C93B93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rcRect l="-130000" t="-130000" r="-130000" b="-130000"/>
          <a:stretch>
            <a:fillRect/>
          </a:stretch>
        </p:blipFill>
        <p:spPr>
          <a:xfrm>
            <a:off x="7471258" y="5032858"/>
            <a:ext cx="2194560" cy="219456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597"/>
    </mc:Choice>
    <mc:Fallback>
      <p:transition spd="slow" advTm="4459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52734" b="-48179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487680" y="292951"/>
            <a:ext cx="8778240" cy="1219200"/>
            <a:chOff x="0" y="0"/>
            <a:chExt cx="11704320" cy="1625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704320" cy="1625600"/>
            </a:xfrm>
            <a:custGeom>
              <a:avLst/>
              <a:gdLst/>
              <a:ahLst/>
              <a:cxnLst/>
              <a:rect l="l" t="t" r="r" b="b"/>
              <a:pathLst>
                <a:path w="11704320" h="1625600">
                  <a:moveTo>
                    <a:pt x="0" y="0"/>
                  </a:moveTo>
                  <a:lnTo>
                    <a:pt x="11704320" y="0"/>
                  </a:lnTo>
                  <a:lnTo>
                    <a:pt x="11704320" y="1625600"/>
                  </a:lnTo>
                  <a:lnTo>
                    <a:pt x="0" y="162560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90292" b="-902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11704320" cy="17208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631"/>
                </a:lnSpc>
              </a:pPr>
              <a:r>
                <a:rPr lang="en-US" sz="469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Conclusion</a:t>
              </a:r>
            </a:p>
          </p:txBody>
        </p:sp>
      </p:grpSp>
      <p:sp>
        <p:nvSpPr>
          <p:cNvPr id="6" name="Freeform 6"/>
          <p:cNvSpPr/>
          <p:nvPr/>
        </p:nvSpPr>
        <p:spPr>
          <a:xfrm>
            <a:off x="5644756" y="3206356"/>
            <a:ext cx="4108844" cy="4108844"/>
          </a:xfrm>
          <a:custGeom>
            <a:avLst/>
            <a:gdLst/>
            <a:ahLst/>
            <a:cxnLst/>
            <a:rect l="l" t="t" r="r" b="b"/>
            <a:pathLst>
              <a:path w="4108844" h="4108844">
                <a:moveTo>
                  <a:pt x="0" y="0"/>
                </a:moveTo>
                <a:lnTo>
                  <a:pt x="4108844" y="0"/>
                </a:lnTo>
                <a:lnTo>
                  <a:pt x="4108844" y="4108844"/>
                </a:lnTo>
                <a:lnTo>
                  <a:pt x="0" y="41088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579120" y="1695450"/>
            <a:ext cx="8595360" cy="140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 predicts housing prices effectively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Market trends strongly influence prices</a:t>
            </a:r>
          </a:p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Data-driven insights</a:t>
            </a:r>
          </a:p>
        </p:txBody>
      </p:sp>
      <p:pic>
        <p:nvPicPr>
          <p:cNvPr id="16" name="Audio 15">
            <a:hlinkClick r:id="" action="ppaction://media"/>
            <a:extLst>
              <a:ext uri="{FF2B5EF4-FFF2-40B4-BE49-F238E27FC236}">
                <a16:creationId xmlns:a16="http://schemas.microsoft.com/office/drawing/2014/main" id="{A737668A-D7A0-B4A7-DFFE-CD57002320C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rcRect l="-130000" t="-130000" r="-130000" b="-130000"/>
          <a:stretch>
            <a:fillRect/>
          </a:stretch>
        </p:blipFill>
        <p:spPr>
          <a:xfrm>
            <a:off x="7471258" y="5032858"/>
            <a:ext cx="2194560" cy="219456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584"/>
    </mc:Choice>
    <mc:Fallback>
      <p:transition spd="slow" advTm="445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6666" b="-16666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487680" y="292951"/>
            <a:ext cx="8778240" cy="1219200"/>
            <a:chOff x="0" y="0"/>
            <a:chExt cx="11704320" cy="1625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704320" cy="1625600"/>
            </a:xfrm>
            <a:custGeom>
              <a:avLst/>
              <a:gdLst/>
              <a:ahLst/>
              <a:cxnLst/>
              <a:rect l="l" t="t" r="r" b="b"/>
              <a:pathLst>
                <a:path w="11704320" h="1625600">
                  <a:moveTo>
                    <a:pt x="0" y="0"/>
                  </a:moveTo>
                  <a:lnTo>
                    <a:pt x="11704320" y="0"/>
                  </a:lnTo>
                  <a:lnTo>
                    <a:pt x="11704320" y="1625600"/>
                  </a:lnTo>
                  <a:lnTo>
                    <a:pt x="0" y="1625600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90292" b="-902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11704320" cy="17208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631"/>
                </a:lnSpc>
              </a:pPr>
              <a:r>
                <a:rPr lang="en-US" sz="4693" b="1">
                  <a:solidFill>
                    <a:srgbClr val="00000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Recommendations</a:t>
              </a:r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579120" y="1695450"/>
            <a:ext cx="8595360" cy="1847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Deploy the trained model into dashboard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Update with new, recent data</a:t>
            </a:r>
          </a:p>
          <a:p>
            <a:pPr marL="384237" lvl="1" indent="-192119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Add more external data sources</a:t>
            </a:r>
          </a:p>
          <a:p>
            <a:pPr marL="384364" lvl="1" indent="-192182" algn="l">
              <a:lnSpc>
                <a:spcPts val="3583"/>
              </a:lnSpc>
              <a:buFont typeface="Arial"/>
              <a:buChar char="•"/>
            </a:pPr>
            <a:r>
              <a:rPr lang="en-US" sz="2986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Continuously improve the data model</a:t>
            </a:r>
          </a:p>
        </p:txBody>
      </p:sp>
      <p:pic>
        <p:nvPicPr>
          <p:cNvPr id="20" name="Audio 19">
            <a:hlinkClick r:id="" action="ppaction://media"/>
            <a:extLst>
              <a:ext uri="{FF2B5EF4-FFF2-40B4-BE49-F238E27FC236}">
                <a16:creationId xmlns:a16="http://schemas.microsoft.com/office/drawing/2014/main" id="{3E22F8C5-C9B1-2017-D526-9EE094B797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-130000" t="-130000" r="-130000" b="-130000"/>
          <a:stretch>
            <a:fillRect/>
          </a:stretch>
        </p:blipFill>
        <p:spPr>
          <a:xfrm>
            <a:off x="7471258" y="5032858"/>
            <a:ext cx="2194560" cy="219456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3502"/>
    </mc:Choice>
    <mc:Fallback>
      <p:transition spd="slow" advTm="4350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</TotalTime>
  <Words>672</Words>
  <Application>Microsoft Office PowerPoint</Application>
  <PresentationFormat>Custom</PresentationFormat>
  <Paragraphs>102</Paragraphs>
  <Slides>6</Slides>
  <Notes>6</Notes>
  <HiddenSlides>0</HiddenSlides>
  <MMClips>6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Calibri (MS) Bold</vt:lpstr>
      <vt:lpstr>Montserrat</vt:lpstr>
      <vt:lpstr>Montserrat Bold</vt:lpstr>
      <vt:lpstr>Londrina Solid Heavy</vt:lpstr>
      <vt:lpstr>Calibri (MS)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Clean_Blue_RealEstate_Presentation.pptx</dc:title>
  <cp:lastModifiedBy>Jun Sik Ryu</cp:lastModifiedBy>
  <cp:revision>3</cp:revision>
  <dcterms:created xsi:type="dcterms:W3CDTF">2006-08-16T00:00:00Z</dcterms:created>
  <dcterms:modified xsi:type="dcterms:W3CDTF">2026-04-14T05:40:06Z</dcterms:modified>
  <dc:identifier>DAHGfy4KUEE</dc:identifier>
</cp:coreProperties>
</file>